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Gilda Display" panose="020B0604020202020204" charset="0"/>
      <p:regular r:id="rId22"/>
    </p:embeddedFont>
    <p:embeddedFont>
      <p:font typeface="HK Grotesk" panose="020B0604020202020204" charset="0"/>
      <p:regular r:id="rId23"/>
    </p:embeddedFont>
    <p:embeddedFont>
      <p:font typeface="HK Grotesk Bold" panose="020B0604020202020204" charset="0"/>
      <p:regular r:id="rId24"/>
    </p:embeddedFont>
    <p:embeddedFont>
      <p:font typeface="HK Grotesk Light"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34"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sp>
        <p:nvSpPr>
          <p:cNvPr id="2" name="Freeform 2"/>
          <p:cNvSpPr/>
          <p:nvPr/>
        </p:nvSpPr>
        <p:spPr>
          <a:xfrm>
            <a:off x="13611225" y="6787402"/>
            <a:ext cx="10936025" cy="10299747"/>
          </a:xfrm>
          <a:custGeom>
            <a:avLst/>
            <a:gdLst/>
            <a:ahLst/>
            <a:cxnLst/>
            <a:rect l="l" t="t" r="r" b="b"/>
            <a:pathLst>
              <a:path w="10936025" h="10299747">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grpSp>
        <p:nvGrpSpPr>
          <p:cNvPr id="3" name="Group 3"/>
          <p:cNvGrpSpPr/>
          <p:nvPr/>
        </p:nvGrpSpPr>
        <p:grpSpPr>
          <a:xfrm>
            <a:off x="666750" y="666750"/>
            <a:ext cx="8629650" cy="8953500"/>
            <a:chOff x="0" y="0"/>
            <a:chExt cx="1336959" cy="1387131"/>
          </a:xfrm>
        </p:grpSpPr>
        <p:sp>
          <p:nvSpPr>
            <p:cNvPr id="4" name="Freeform 4"/>
            <p:cNvSpPr/>
            <p:nvPr/>
          </p:nvSpPr>
          <p:spPr>
            <a:xfrm>
              <a:off x="0" y="0"/>
              <a:ext cx="1336959" cy="1387131"/>
            </a:xfrm>
            <a:custGeom>
              <a:avLst/>
              <a:gdLst/>
              <a:ahLst/>
              <a:cxnLst/>
              <a:rect l="l" t="t" r="r" b="b"/>
              <a:pathLst>
                <a:path w="1336959" h="1387131">
                  <a:moveTo>
                    <a:pt x="35885" y="0"/>
                  </a:moveTo>
                  <a:lnTo>
                    <a:pt x="1301073" y="0"/>
                  </a:lnTo>
                  <a:cubicBezTo>
                    <a:pt x="1310591" y="0"/>
                    <a:pt x="1319718" y="3781"/>
                    <a:pt x="1326448" y="10511"/>
                  </a:cubicBezTo>
                  <a:cubicBezTo>
                    <a:pt x="1333178" y="17240"/>
                    <a:pt x="1336959" y="26368"/>
                    <a:pt x="1336959" y="35885"/>
                  </a:cubicBezTo>
                  <a:lnTo>
                    <a:pt x="1336959" y="1351246"/>
                  </a:lnTo>
                  <a:cubicBezTo>
                    <a:pt x="1336959" y="1360764"/>
                    <a:pt x="1333178" y="1369891"/>
                    <a:pt x="1326448" y="1376621"/>
                  </a:cubicBezTo>
                  <a:cubicBezTo>
                    <a:pt x="1319718" y="1383351"/>
                    <a:pt x="1310591" y="1387131"/>
                    <a:pt x="1301073" y="1387131"/>
                  </a:cubicBezTo>
                  <a:lnTo>
                    <a:pt x="35885" y="1387131"/>
                  </a:lnTo>
                  <a:cubicBezTo>
                    <a:pt x="26368" y="1387131"/>
                    <a:pt x="17240" y="1383351"/>
                    <a:pt x="10511" y="1376621"/>
                  </a:cubicBezTo>
                  <a:cubicBezTo>
                    <a:pt x="3781" y="1369891"/>
                    <a:pt x="0" y="1360764"/>
                    <a:pt x="0" y="1351246"/>
                  </a:cubicBezTo>
                  <a:lnTo>
                    <a:pt x="0" y="35885"/>
                  </a:lnTo>
                  <a:cubicBezTo>
                    <a:pt x="0" y="26368"/>
                    <a:pt x="3781" y="17240"/>
                    <a:pt x="10511" y="10511"/>
                  </a:cubicBezTo>
                  <a:cubicBezTo>
                    <a:pt x="17240" y="3781"/>
                    <a:pt x="26368" y="0"/>
                    <a:pt x="35885" y="0"/>
                  </a:cubicBezTo>
                  <a:close/>
                </a:path>
              </a:pathLst>
            </a:custGeom>
            <a:blipFill>
              <a:blip r:embed="rId4">
                <a:alphaModFix amt="24000"/>
              </a:blip>
              <a:stretch>
                <a:fillRect l="-42224" r="-42224"/>
              </a:stretch>
            </a:blipFill>
            <a:ln cap="rnd">
              <a:noFill/>
              <a:prstDash val="solid"/>
              <a:round/>
            </a:ln>
          </p:spPr>
          <p:txBody>
            <a:bodyPr/>
            <a:lstStyle/>
            <a:p>
              <a:endParaRPr lang="en-IN"/>
            </a:p>
          </p:txBody>
        </p:sp>
      </p:grpSp>
      <p:grpSp>
        <p:nvGrpSpPr>
          <p:cNvPr id="5" name="Group 5"/>
          <p:cNvGrpSpPr/>
          <p:nvPr/>
        </p:nvGrpSpPr>
        <p:grpSpPr>
          <a:xfrm>
            <a:off x="10734675" y="666804"/>
            <a:ext cx="6886575" cy="5612559"/>
            <a:chOff x="0" y="0"/>
            <a:chExt cx="9182100" cy="7483412"/>
          </a:xfrm>
        </p:grpSpPr>
        <p:sp>
          <p:nvSpPr>
            <p:cNvPr id="6" name="TextBox 6"/>
            <p:cNvSpPr txBox="1"/>
            <p:nvPr/>
          </p:nvSpPr>
          <p:spPr>
            <a:xfrm>
              <a:off x="0" y="4385037"/>
              <a:ext cx="9182100" cy="3098376"/>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.NET Core Essentials</a:t>
              </a:r>
            </a:p>
          </p:txBody>
        </p:sp>
        <p:sp>
          <p:nvSpPr>
            <p:cNvPr id="7" name="TextBox 7"/>
            <p:cNvSpPr txBox="1"/>
            <p:nvPr/>
          </p:nvSpPr>
          <p:spPr>
            <a:xfrm>
              <a:off x="0" y="2288902"/>
              <a:ext cx="9182100" cy="1924685"/>
            </a:xfrm>
            <a:prstGeom prst="rect">
              <a:avLst/>
            </a:prstGeom>
          </p:spPr>
          <p:txBody>
            <a:bodyPr lIns="0" tIns="0" rIns="0" bIns="0" rtlCol="0" anchor="t">
              <a:spAutoFit/>
            </a:bodyPr>
            <a:lstStyle/>
            <a:p>
              <a:pPr marL="0" lvl="0" indent="0" algn="l">
                <a:lnSpc>
                  <a:spcPts val="5880"/>
                </a:lnSpc>
              </a:pPr>
              <a:r>
                <a:rPr lang="en-US" sz="4200">
                  <a:solidFill>
                    <a:srgbClr val="A8A8A8"/>
                  </a:solidFill>
                  <a:latin typeface="HK Grotesk Light"/>
                  <a:ea typeface="HK Grotesk Light"/>
                  <a:cs typeface="HK Grotesk Light"/>
                  <a:sym typeface="HK Grotesk Light"/>
                </a:rPr>
                <a:t>IHostedService &amp; BackgroundService</a:t>
              </a:r>
            </a:p>
          </p:txBody>
        </p:sp>
        <p:sp>
          <p:nvSpPr>
            <p:cNvPr id="8" name="TextBox 8"/>
            <p:cNvSpPr txBox="1"/>
            <p:nvPr/>
          </p:nvSpPr>
          <p:spPr>
            <a:xfrm>
              <a:off x="0" y="-47625"/>
              <a:ext cx="9182100" cy="493818"/>
            </a:xfrm>
            <a:prstGeom prst="rect">
              <a:avLst/>
            </a:prstGeom>
          </p:spPr>
          <p:txBody>
            <a:bodyPr lIns="0" tIns="0" rIns="0" bIns="0" rtlCol="0" anchor="t">
              <a:spAutoFit/>
            </a:bodyPr>
            <a:lstStyle/>
            <a:p>
              <a:pPr marL="0" lvl="0" indent="0" algn="l">
                <a:lnSpc>
                  <a:spcPts val="3079"/>
                </a:lnSpc>
              </a:pPr>
              <a:r>
                <a:rPr lang="en-US" sz="2199">
                  <a:solidFill>
                    <a:srgbClr val="A8A8A8"/>
                  </a:solidFill>
                  <a:latin typeface="HK Grotesk Light"/>
                  <a:ea typeface="HK Grotesk Light"/>
                  <a:cs typeface="HK Grotesk Light"/>
                  <a:sym typeface="HK Grotesk Light"/>
                </a:rPr>
                <a:t>December 13, 2025</a:t>
              </a:r>
            </a:p>
          </p:txBody>
        </p:sp>
      </p:grpSp>
      <p:sp>
        <p:nvSpPr>
          <p:cNvPr id="9" name="TextBox 9"/>
          <p:cNvSpPr txBox="1"/>
          <p:nvPr/>
        </p:nvSpPr>
        <p:spPr>
          <a:xfrm>
            <a:off x="10734675" y="981075"/>
            <a:ext cx="6886575" cy="382270"/>
          </a:xfrm>
          <a:prstGeom prst="rect">
            <a:avLst/>
          </a:prstGeom>
        </p:spPr>
        <p:txBody>
          <a:bodyPr lIns="0" tIns="0" rIns="0" bIns="0" rtlCol="0" anchor="t">
            <a:spAutoFit/>
          </a:bodyPr>
          <a:lstStyle/>
          <a:p>
            <a:pPr marL="0" lvl="0" indent="0" algn="l">
              <a:lnSpc>
                <a:spcPts val="3079"/>
              </a:lnSpc>
            </a:pPr>
            <a:r>
              <a:rPr lang="en-US" sz="2199">
                <a:solidFill>
                  <a:srgbClr val="A8A8A8"/>
                </a:solidFill>
                <a:latin typeface="HK Grotesk Light"/>
                <a:ea typeface="HK Grotesk Light"/>
                <a:cs typeface="HK Grotesk Light"/>
                <a:sym typeface="HK Grotesk Light"/>
              </a:rPr>
              <a:t>Presented by Balagurunathan Marimuthu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grpSp>
        <p:nvGrpSpPr>
          <p:cNvPr id="2" name="Group 2"/>
          <p:cNvGrpSpPr/>
          <p:nvPr/>
        </p:nvGrpSpPr>
        <p:grpSpPr>
          <a:xfrm>
            <a:off x="2105025" y="2419350"/>
            <a:ext cx="12639675" cy="5905500"/>
            <a:chOff x="0" y="0"/>
            <a:chExt cx="16852900" cy="7874000"/>
          </a:xfrm>
        </p:grpSpPr>
        <p:sp>
          <p:nvSpPr>
            <p:cNvPr id="3" name="TextBox 3"/>
            <p:cNvSpPr txBox="1"/>
            <p:nvPr/>
          </p:nvSpPr>
          <p:spPr>
            <a:xfrm>
              <a:off x="0" y="171450"/>
              <a:ext cx="16852900" cy="1612476"/>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Agenda</a:t>
              </a:r>
            </a:p>
          </p:txBody>
        </p:sp>
        <p:sp>
          <p:nvSpPr>
            <p:cNvPr id="4" name="TextBox 4"/>
            <p:cNvSpPr txBox="1"/>
            <p:nvPr/>
          </p:nvSpPr>
          <p:spPr>
            <a:xfrm>
              <a:off x="0" y="2378075"/>
              <a:ext cx="16852900" cy="5495925"/>
            </a:xfrm>
            <a:prstGeom prst="rect">
              <a:avLst/>
            </a:prstGeom>
          </p:spPr>
          <p:txBody>
            <a:bodyPr lIns="0" tIns="0" rIns="0" bIns="0" rtlCol="0" anchor="t">
              <a:spAutoFit/>
            </a:bodyPr>
            <a:lstStyle/>
            <a:p>
              <a:pPr marL="647700" lvl="1" indent="-323850" algn="l">
                <a:lnSpc>
                  <a:spcPts val="3600"/>
                </a:lnSpc>
                <a:buFont typeface="Arial"/>
                <a:buChar char="•"/>
              </a:pPr>
              <a:r>
                <a:rPr lang="en-US" sz="3000">
                  <a:solidFill>
                    <a:srgbClr val="A8A8A8"/>
                  </a:solidFill>
                  <a:latin typeface="HK Grotesk"/>
                  <a:ea typeface="HK Grotesk"/>
                  <a:cs typeface="HK Grotesk"/>
                  <a:sym typeface="HK Grotesk"/>
                </a:rPr>
                <a:t>Introduction to the .NET Hosting Model</a:t>
              </a:r>
            </a:p>
            <a:p>
              <a:pPr marL="647700" lvl="1" indent="-323850" algn="l">
                <a:lnSpc>
                  <a:spcPts val="3600"/>
                </a:lnSpc>
                <a:buFont typeface="Arial"/>
                <a:buChar char="•"/>
              </a:pPr>
              <a:r>
                <a:rPr lang="en-US" sz="3000">
                  <a:solidFill>
                    <a:srgbClr val="A8A8A8"/>
                  </a:solidFill>
                  <a:latin typeface="HK Grotesk"/>
                  <a:ea typeface="HK Grotesk"/>
                  <a:cs typeface="HK Grotesk"/>
                  <a:sym typeface="HK Grotesk"/>
                </a:rPr>
                <a:t>Understanding IHostedService</a:t>
              </a:r>
            </a:p>
            <a:p>
              <a:pPr marL="647700" lvl="1" indent="-323850" algn="l">
                <a:lnSpc>
                  <a:spcPts val="3600"/>
                </a:lnSpc>
                <a:buFont typeface="Arial"/>
                <a:buChar char="•"/>
              </a:pPr>
              <a:r>
                <a:rPr lang="en-US" sz="3000">
                  <a:solidFill>
                    <a:srgbClr val="A8A8A8"/>
                  </a:solidFill>
                  <a:latin typeface="HK Grotesk"/>
                  <a:ea typeface="HK Grotesk"/>
                  <a:cs typeface="HK Grotesk"/>
                  <a:sym typeface="HK Grotesk"/>
                </a:rPr>
                <a:t>Understanding BackgroundService</a:t>
              </a:r>
            </a:p>
            <a:p>
              <a:pPr marL="647700" lvl="1" indent="-323850" algn="l">
                <a:lnSpc>
                  <a:spcPts val="3600"/>
                </a:lnSpc>
                <a:buFont typeface="Arial"/>
                <a:buChar char="•"/>
              </a:pPr>
              <a:r>
                <a:rPr lang="en-US" sz="3000">
                  <a:solidFill>
                    <a:srgbClr val="A8A8A8"/>
                  </a:solidFill>
                  <a:latin typeface="HK Grotesk"/>
                  <a:ea typeface="HK Grotesk"/>
                  <a:cs typeface="HK Grotesk"/>
                  <a:sym typeface="HK Grotesk"/>
                </a:rPr>
                <a:t>Lifecycle and execution flow</a:t>
              </a:r>
            </a:p>
            <a:p>
              <a:pPr marL="647700" lvl="1" indent="-323850" algn="l">
                <a:lnSpc>
                  <a:spcPts val="3600"/>
                </a:lnSpc>
                <a:buFont typeface="Arial"/>
                <a:buChar char="•"/>
              </a:pPr>
              <a:r>
                <a:rPr lang="en-US" sz="3000">
                  <a:solidFill>
                    <a:srgbClr val="A8A8A8"/>
                  </a:solidFill>
                  <a:latin typeface="HK Grotesk"/>
                  <a:ea typeface="HK Grotesk"/>
                  <a:cs typeface="HK Grotesk"/>
                  <a:sym typeface="HK Grotesk"/>
                </a:rPr>
                <a:t>Use cases and anti-patterns</a:t>
              </a:r>
            </a:p>
            <a:p>
              <a:pPr marL="647700" lvl="1" indent="-323850" algn="l">
                <a:lnSpc>
                  <a:spcPts val="3600"/>
                </a:lnSpc>
                <a:buFont typeface="Arial"/>
                <a:buChar char="•"/>
              </a:pPr>
              <a:r>
                <a:rPr lang="en-US" sz="3000">
                  <a:solidFill>
                    <a:srgbClr val="A8A8A8"/>
                  </a:solidFill>
                  <a:latin typeface="HK Grotesk"/>
                  <a:ea typeface="HK Grotesk"/>
                  <a:cs typeface="HK Grotesk"/>
                  <a:sym typeface="HK Grotesk"/>
                </a:rPr>
                <a:t>Best practices and resiliency</a:t>
              </a:r>
            </a:p>
            <a:p>
              <a:pPr marL="647700" lvl="1" indent="-323850" algn="l">
                <a:lnSpc>
                  <a:spcPts val="3600"/>
                </a:lnSpc>
                <a:buFont typeface="Arial"/>
                <a:buChar char="•"/>
              </a:pPr>
              <a:r>
                <a:rPr lang="en-US" sz="3000">
                  <a:solidFill>
                    <a:srgbClr val="A8A8A8"/>
                  </a:solidFill>
                  <a:latin typeface="HK Grotesk"/>
                  <a:ea typeface="HK Grotesk"/>
                  <a:cs typeface="HK Grotesk"/>
                  <a:sym typeface="HK Grotesk"/>
                </a:rPr>
                <a:t>.NET 10 behavior changes</a:t>
              </a:r>
            </a:p>
            <a:p>
              <a:pPr marL="647700" lvl="1" indent="-323850" algn="l">
                <a:lnSpc>
                  <a:spcPts val="3600"/>
                </a:lnSpc>
                <a:buFont typeface="Arial"/>
                <a:buChar char="•"/>
              </a:pPr>
              <a:r>
                <a:rPr lang="en-US" sz="3000">
                  <a:solidFill>
                    <a:srgbClr val="A8A8A8"/>
                  </a:solidFill>
                  <a:latin typeface="HK Grotesk"/>
                  <a:ea typeface="HK Grotesk"/>
                  <a:cs typeface="HK Grotesk"/>
                  <a:sym typeface="HK Grotesk"/>
                </a:rPr>
                <a:t>Demo and Q&amp;A</a:t>
              </a:r>
            </a:p>
            <a:p>
              <a:pPr marL="0" lvl="0" indent="0" algn="l">
                <a:lnSpc>
                  <a:spcPts val="3600"/>
                </a:lnSpc>
              </a:pPr>
              <a:endParaRPr lang="en-US" sz="3000">
                <a:solidFill>
                  <a:srgbClr val="A8A8A8"/>
                </a:solidFill>
                <a:latin typeface="HK Grotesk"/>
                <a:ea typeface="HK Grotesk"/>
                <a:cs typeface="HK Grotesk"/>
                <a:sym typeface="HK Grotesk"/>
              </a:endParaRPr>
            </a:p>
          </p:txBody>
        </p:sp>
      </p:grpSp>
      <p:sp>
        <p:nvSpPr>
          <p:cNvPr id="5" name="Freeform 5"/>
          <p:cNvSpPr/>
          <p:nvPr/>
        </p:nvSpPr>
        <p:spPr>
          <a:xfrm rot="-1268288">
            <a:off x="14795639" y="5873497"/>
            <a:ext cx="10936025" cy="10299747"/>
          </a:xfrm>
          <a:custGeom>
            <a:avLst/>
            <a:gdLst/>
            <a:ahLst/>
            <a:cxnLst/>
            <a:rect l="l" t="t" r="r" b="b"/>
            <a:pathLst>
              <a:path w="10936025" h="10299747">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6" name="Freeform 6"/>
          <p:cNvSpPr/>
          <p:nvPr/>
        </p:nvSpPr>
        <p:spPr>
          <a:xfrm rot="-1268288">
            <a:off x="-6005389" y="-6781594"/>
            <a:ext cx="10936025" cy="10299747"/>
          </a:xfrm>
          <a:custGeom>
            <a:avLst/>
            <a:gdLst/>
            <a:ahLst/>
            <a:cxnLst/>
            <a:rect l="l" t="t" r="r" b="b"/>
            <a:pathLst>
              <a:path w="10936025" h="10299747">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grpSp>
        <p:nvGrpSpPr>
          <p:cNvPr id="2" name="Group 2"/>
          <p:cNvGrpSpPr/>
          <p:nvPr/>
        </p:nvGrpSpPr>
        <p:grpSpPr>
          <a:xfrm>
            <a:off x="2105025" y="3002297"/>
            <a:ext cx="12639675" cy="3914808"/>
            <a:chOff x="0" y="0"/>
            <a:chExt cx="16852900" cy="5219744"/>
          </a:xfrm>
        </p:grpSpPr>
        <p:sp>
          <p:nvSpPr>
            <p:cNvPr id="3" name="TextBox 3"/>
            <p:cNvSpPr txBox="1"/>
            <p:nvPr/>
          </p:nvSpPr>
          <p:spPr>
            <a:xfrm>
              <a:off x="0" y="171450"/>
              <a:ext cx="16852900" cy="1612476"/>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What Is the .NET Host?</a:t>
              </a:r>
            </a:p>
          </p:txBody>
        </p:sp>
        <p:sp>
          <p:nvSpPr>
            <p:cNvPr id="4" name="TextBox 4"/>
            <p:cNvSpPr txBox="1"/>
            <p:nvPr/>
          </p:nvSpPr>
          <p:spPr>
            <a:xfrm>
              <a:off x="0" y="3251244"/>
              <a:ext cx="16852900" cy="1968500"/>
            </a:xfrm>
            <a:prstGeom prst="rect">
              <a:avLst/>
            </a:prstGeom>
          </p:spPr>
          <p:txBody>
            <a:bodyPr lIns="0" tIns="0" rIns="0" bIns="0" rtlCol="0" anchor="t">
              <a:spAutoFit/>
            </a:bodyPr>
            <a:lstStyle/>
            <a:p>
              <a:pPr marL="0" lvl="0" indent="0" algn="l">
                <a:lnSpc>
                  <a:spcPts val="3900"/>
                </a:lnSpc>
              </a:pPr>
              <a:r>
                <a:rPr lang="en-US" sz="3000">
                  <a:solidFill>
                    <a:srgbClr val="A8A8A8"/>
                  </a:solidFill>
                  <a:latin typeface="HK Grotesk Light"/>
                  <a:ea typeface="HK Grotesk Light"/>
                  <a:cs typeface="HK Grotesk Light"/>
                  <a:sym typeface="HK Grotesk Light"/>
                </a:rPr>
                <a:t>The .NET Host acts as the core runtime managing </a:t>
              </a:r>
              <a:r>
                <a:rPr lang="en-US" sz="3000" b="1">
                  <a:solidFill>
                    <a:srgbClr val="A8A8A8"/>
                  </a:solidFill>
                  <a:latin typeface="HK Grotesk Bold"/>
                  <a:ea typeface="HK Grotesk Bold"/>
                  <a:cs typeface="HK Grotesk Bold"/>
                  <a:sym typeface="HK Grotesk Bold"/>
                </a:rPr>
                <a:t>dependency injection</a:t>
              </a:r>
              <a:r>
                <a:rPr lang="en-US" sz="3000">
                  <a:solidFill>
                    <a:srgbClr val="A8A8A8"/>
                  </a:solidFill>
                  <a:latin typeface="HK Grotesk Light"/>
                  <a:ea typeface="HK Grotesk Light"/>
                  <a:cs typeface="HK Grotesk Light"/>
                  <a:sym typeface="HK Grotesk Light"/>
                </a:rPr>
                <a:t>, configuration, logging, and overall application lifetime, ensuring that services run smoothly in various environments.</a:t>
              </a:r>
            </a:p>
          </p:txBody>
        </p:sp>
        <p:sp>
          <p:nvSpPr>
            <p:cNvPr id="5" name="TextBox 5"/>
            <p:cNvSpPr txBox="1"/>
            <p:nvPr/>
          </p:nvSpPr>
          <p:spPr>
            <a:xfrm>
              <a:off x="0" y="2086063"/>
              <a:ext cx="16852900" cy="619125"/>
            </a:xfrm>
            <a:prstGeom prst="rect">
              <a:avLst/>
            </a:prstGeom>
          </p:spPr>
          <p:txBody>
            <a:bodyPr lIns="0" tIns="0" rIns="0" bIns="0" rtlCol="0" anchor="t">
              <a:spAutoFit/>
            </a:bodyPr>
            <a:lstStyle/>
            <a:p>
              <a:pPr marL="0" lvl="0" indent="0" algn="l">
                <a:lnSpc>
                  <a:spcPts val="3600"/>
                </a:lnSpc>
              </a:pPr>
              <a:r>
                <a:rPr lang="en-US" sz="3000" b="1">
                  <a:solidFill>
                    <a:srgbClr val="D0D0D0"/>
                  </a:solidFill>
                  <a:latin typeface="HK Grotesk Bold"/>
                  <a:ea typeface="HK Grotesk Bold"/>
                  <a:cs typeface="HK Grotesk Bold"/>
                  <a:sym typeface="HK Grotesk Bold"/>
                </a:rPr>
                <a:t>Central runtime for managing application services</a:t>
              </a:r>
            </a:p>
          </p:txBody>
        </p:sp>
      </p:grpSp>
      <p:sp>
        <p:nvSpPr>
          <p:cNvPr id="6" name="Freeform 6"/>
          <p:cNvSpPr/>
          <p:nvPr/>
        </p:nvSpPr>
        <p:spPr>
          <a:xfrm rot="-1268288">
            <a:off x="14795639" y="5873497"/>
            <a:ext cx="10936025" cy="10299747"/>
          </a:xfrm>
          <a:custGeom>
            <a:avLst/>
            <a:gdLst/>
            <a:ahLst/>
            <a:cxnLst/>
            <a:rect l="l" t="t" r="r" b="b"/>
            <a:pathLst>
              <a:path w="10936025" h="10299747">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grpSp>
        <p:nvGrpSpPr>
          <p:cNvPr id="2" name="Group 2"/>
          <p:cNvGrpSpPr/>
          <p:nvPr/>
        </p:nvGrpSpPr>
        <p:grpSpPr>
          <a:xfrm>
            <a:off x="2105025" y="2754647"/>
            <a:ext cx="12639675" cy="4410108"/>
            <a:chOff x="0" y="0"/>
            <a:chExt cx="16852900" cy="5880144"/>
          </a:xfrm>
        </p:grpSpPr>
        <p:sp>
          <p:nvSpPr>
            <p:cNvPr id="3" name="TextBox 3"/>
            <p:cNvSpPr txBox="1"/>
            <p:nvPr/>
          </p:nvSpPr>
          <p:spPr>
            <a:xfrm>
              <a:off x="0" y="171450"/>
              <a:ext cx="16852900" cy="1612476"/>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Generic Host</a:t>
              </a:r>
            </a:p>
          </p:txBody>
        </p:sp>
        <p:sp>
          <p:nvSpPr>
            <p:cNvPr id="4" name="TextBox 4"/>
            <p:cNvSpPr txBox="1"/>
            <p:nvPr/>
          </p:nvSpPr>
          <p:spPr>
            <a:xfrm>
              <a:off x="0" y="3251244"/>
              <a:ext cx="16852900" cy="2628900"/>
            </a:xfrm>
            <a:prstGeom prst="rect">
              <a:avLst/>
            </a:prstGeom>
          </p:spPr>
          <p:txBody>
            <a:bodyPr lIns="0" tIns="0" rIns="0" bIns="0" rtlCol="0" anchor="t">
              <a:spAutoFit/>
            </a:bodyPr>
            <a:lstStyle/>
            <a:p>
              <a:pPr marL="0" lvl="0" indent="0" algn="l">
                <a:lnSpc>
                  <a:spcPts val="3900"/>
                </a:lnSpc>
              </a:pPr>
              <a:r>
                <a:rPr lang="en-US" sz="3000">
                  <a:solidFill>
                    <a:srgbClr val="A8A8A8"/>
                  </a:solidFill>
                  <a:latin typeface="HK Grotesk Light"/>
                  <a:ea typeface="HK Grotesk Light"/>
                  <a:cs typeface="HK Grotesk Light"/>
                  <a:sym typeface="HK Grotesk Light"/>
                </a:rPr>
                <a:t>The Generic Host is a </a:t>
              </a:r>
              <a:r>
                <a:rPr lang="en-US" sz="3000" b="1">
                  <a:solidFill>
                    <a:srgbClr val="A8A8A8"/>
                  </a:solidFill>
                  <a:latin typeface="HK Grotesk Bold"/>
                  <a:ea typeface="HK Grotesk Bold"/>
                  <a:cs typeface="HK Grotesk Bold"/>
                  <a:sym typeface="HK Grotesk Bold"/>
                </a:rPr>
                <a:t>powerful framework</a:t>
              </a:r>
              <a:r>
                <a:rPr lang="en-US" sz="3000">
                  <a:solidFill>
                    <a:srgbClr val="A8A8A8"/>
                  </a:solidFill>
                  <a:latin typeface="HK Grotesk Light"/>
                  <a:ea typeface="HK Grotesk Light"/>
                  <a:cs typeface="HK Grotesk Light"/>
                  <a:sym typeface="HK Grotesk Light"/>
                </a:rPr>
                <a:t> that streamlines application lifecycle management, enabling consistent startup, shutdown, and background execution across various environments like local, containers, and cloud.</a:t>
              </a:r>
            </a:p>
          </p:txBody>
        </p:sp>
        <p:sp>
          <p:nvSpPr>
            <p:cNvPr id="5" name="TextBox 5"/>
            <p:cNvSpPr txBox="1"/>
            <p:nvPr/>
          </p:nvSpPr>
          <p:spPr>
            <a:xfrm>
              <a:off x="0" y="2086063"/>
              <a:ext cx="16852900" cy="619125"/>
            </a:xfrm>
            <a:prstGeom prst="rect">
              <a:avLst/>
            </a:prstGeom>
          </p:spPr>
          <p:txBody>
            <a:bodyPr lIns="0" tIns="0" rIns="0" bIns="0" rtlCol="0" anchor="t">
              <a:spAutoFit/>
            </a:bodyPr>
            <a:lstStyle/>
            <a:p>
              <a:pPr marL="0" lvl="0" indent="0" algn="l">
                <a:lnSpc>
                  <a:spcPts val="3600"/>
                </a:lnSpc>
              </a:pPr>
              <a:r>
                <a:rPr lang="en-US" sz="3000" b="1">
                  <a:solidFill>
                    <a:srgbClr val="D0D0D0"/>
                  </a:solidFill>
                  <a:latin typeface="HK Grotesk Bold"/>
                  <a:ea typeface="HK Grotesk Bold"/>
                  <a:cs typeface="HK Grotesk Bold"/>
                  <a:sym typeface="HK Grotesk Bold"/>
                </a:rPr>
                <a:t>Unified Hosting Model in .NET Core</a:t>
              </a:r>
            </a:p>
          </p:txBody>
        </p:sp>
      </p:grpSp>
      <p:sp>
        <p:nvSpPr>
          <p:cNvPr id="6" name="Freeform 6"/>
          <p:cNvSpPr/>
          <p:nvPr/>
        </p:nvSpPr>
        <p:spPr>
          <a:xfrm rot="-1268288">
            <a:off x="14795639" y="5873497"/>
            <a:ext cx="10936025" cy="10299747"/>
          </a:xfrm>
          <a:custGeom>
            <a:avLst/>
            <a:gdLst/>
            <a:ahLst/>
            <a:cxnLst/>
            <a:rect l="l" t="t" r="r" b="b"/>
            <a:pathLst>
              <a:path w="10936025" h="10299747">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sp>
        <p:nvSpPr>
          <p:cNvPr id="2" name="Freeform 2"/>
          <p:cNvSpPr/>
          <p:nvPr/>
        </p:nvSpPr>
        <p:spPr>
          <a:xfrm rot="-1268288">
            <a:off x="14795639" y="5873497"/>
            <a:ext cx="10936025" cy="10299747"/>
          </a:xfrm>
          <a:custGeom>
            <a:avLst/>
            <a:gdLst/>
            <a:ahLst/>
            <a:cxnLst/>
            <a:rect l="l" t="t" r="r" b="b"/>
            <a:pathLst>
              <a:path w="10936025" h="10299747">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3" name="Freeform 3"/>
          <p:cNvSpPr/>
          <p:nvPr/>
        </p:nvSpPr>
        <p:spPr>
          <a:xfrm rot="-1268288">
            <a:off x="-6005389" y="-6781594"/>
            <a:ext cx="10936025" cy="10299747"/>
          </a:xfrm>
          <a:custGeom>
            <a:avLst/>
            <a:gdLst/>
            <a:ahLst/>
            <a:cxnLst/>
            <a:rect l="l" t="t" r="r" b="b"/>
            <a:pathLst>
              <a:path w="10936025" h="10299747">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4" name="TextBox 4"/>
          <p:cNvSpPr txBox="1"/>
          <p:nvPr/>
        </p:nvSpPr>
        <p:spPr>
          <a:xfrm>
            <a:off x="2105025" y="3862388"/>
            <a:ext cx="12639675" cy="2280919"/>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Core Concepts of Hosted Services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grpSp>
        <p:nvGrpSpPr>
          <p:cNvPr id="2" name="Group 2"/>
          <p:cNvGrpSpPr/>
          <p:nvPr/>
        </p:nvGrpSpPr>
        <p:grpSpPr>
          <a:xfrm>
            <a:off x="2105025" y="3002297"/>
            <a:ext cx="12639675" cy="3914808"/>
            <a:chOff x="0" y="0"/>
            <a:chExt cx="16852900" cy="5219744"/>
          </a:xfrm>
        </p:grpSpPr>
        <p:sp>
          <p:nvSpPr>
            <p:cNvPr id="3" name="TextBox 3"/>
            <p:cNvSpPr txBox="1"/>
            <p:nvPr/>
          </p:nvSpPr>
          <p:spPr>
            <a:xfrm>
              <a:off x="0" y="171450"/>
              <a:ext cx="16852900" cy="1612476"/>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IHostedService</a:t>
              </a:r>
            </a:p>
          </p:txBody>
        </p:sp>
        <p:sp>
          <p:nvSpPr>
            <p:cNvPr id="4" name="TextBox 4"/>
            <p:cNvSpPr txBox="1"/>
            <p:nvPr/>
          </p:nvSpPr>
          <p:spPr>
            <a:xfrm>
              <a:off x="0" y="3251244"/>
              <a:ext cx="16852900" cy="1968500"/>
            </a:xfrm>
            <a:prstGeom prst="rect">
              <a:avLst/>
            </a:prstGeom>
          </p:spPr>
          <p:txBody>
            <a:bodyPr lIns="0" tIns="0" rIns="0" bIns="0" rtlCol="0" anchor="t">
              <a:spAutoFit/>
            </a:bodyPr>
            <a:lstStyle/>
            <a:p>
              <a:pPr marL="0" lvl="0" indent="0" algn="l">
                <a:lnSpc>
                  <a:spcPts val="3900"/>
                </a:lnSpc>
              </a:pPr>
              <a:r>
                <a:rPr lang="en-US" sz="3000">
                  <a:solidFill>
                    <a:srgbClr val="A8A8A8"/>
                  </a:solidFill>
                  <a:latin typeface="HK Grotesk Light"/>
                  <a:ea typeface="HK Grotesk Light"/>
                  <a:cs typeface="HK Grotesk Light"/>
                  <a:sym typeface="HK Grotesk Light"/>
                </a:rPr>
                <a:t>The </a:t>
              </a:r>
              <a:r>
                <a:rPr lang="en-US" sz="3000" b="1">
                  <a:solidFill>
                    <a:srgbClr val="A8A8A8"/>
                  </a:solidFill>
                  <a:latin typeface="HK Grotesk Bold"/>
                  <a:ea typeface="HK Grotesk Bold"/>
                  <a:cs typeface="HK Grotesk Bold"/>
                  <a:sym typeface="HK Grotesk Bold"/>
                </a:rPr>
                <a:t>IHostedService</a:t>
              </a:r>
              <a:r>
                <a:rPr lang="en-US" sz="3000">
                  <a:solidFill>
                    <a:srgbClr val="A8A8A8"/>
                  </a:solidFill>
                  <a:latin typeface="HK Grotesk Light"/>
                  <a:ea typeface="HK Grotesk Light"/>
                  <a:cs typeface="HK Grotesk Light"/>
                  <a:sym typeface="HK Grotesk Light"/>
                </a:rPr>
                <a:t> interface is crucial for managing background tasks tied to the application lifecycle, providing essential methods like </a:t>
              </a:r>
              <a:r>
                <a:rPr lang="en-US" sz="3000" b="1">
                  <a:solidFill>
                    <a:srgbClr val="A8A8A8"/>
                  </a:solidFill>
                  <a:latin typeface="HK Grotesk Bold"/>
                  <a:ea typeface="HK Grotesk Bold"/>
                  <a:cs typeface="HK Grotesk Bold"/>
                  <a:sym typeface="HK Grotesk Bold"/>
                </a:rPr>
                <a:t>StartAsync()</a:t>
              </a:r>
              <a:r>
                <a:rPr lang="en-US" sz="3000">
                  <a:solidFill>
                    <a:srgbClr val="A8A8A8"/>
                  </a:solidFill>
                  <a:latin typeface="HK Grotesk Light"/>
                  <a:ea typeface="HK Grotesk Light"/>
                  <a:cs typeface="HK Grotesk Light"/>
                  <a:sym typeface="HK Grotesk Light"/>
                </a:rPr>
                <a:t> and </a:t>
              </a:r>
              <a:r>
                <a:rPr lang="en-US" sz="3000" b="1">
                  <a:solidFill>
                    <a:srgbClr val="A8A8A8"/>
                  </a:solidFill>
                  <a:latin typeface="HK Grotesk Bold"/>
                  <a:ea typeface="HK Grotesk Bold"/>
                  <a:cs typeface="HK Grotesk Bold"/>
                  <a:sym typeface="HK Grotesk Bold"/>
                </a:rPr>
                <a:t>StopAsync()</a:t>
              </a:r>
              <a:r>
                <a:rPr lang="en-US" sz="3000">
                  <a:solidFill>
                    <a:srgbClr val="A8A8A8"/>
                  </a:solidFill>
                  <a:latin typeface="HK Grotesk Light"/>
                  <a:ea typeface="HK Grotesk Light"/>
                  <a:cs typeface="HK Grotesk Light"/>
                  <a:sym typeface="HK Grotesk Light"/>
                </a:rPr>
                <a:t> for control.</a:t>
              </a:r>
            </a:p>
          </p:txBody>
        </p:sp>
        <p:sp>
          <p:nvSpPr>
            <p:cNvPr id="5" name="TextBox 5"/>
            <p:cNvSpPr txBox="1"/>
            <p:nvPr/>
          </p:nvSpPr>
          <p:spPr>
            <a:xfrm>
              <a:off x="0" y="2086063"/>
              <a:ext cx="16852900" cy="619125"/>
            </a:xfrm>
            <a:prstGeom prst="rect">
              <a:avLst/>
            </a:prstGeom>
          </p:spPr>
          <p:txBody>
            <a:bodyPr lIns="0" tIns="0" rIns="0" bIns="0" rtlCol="0" anchor="t">
              <a:spAutoFit/>
            </a:bodyPr>
            <a:lstStyle/>
            <a:p>
              <a:pPr marL="0" lvl="0" indent="0" algn="l">
                <a:lnSpc>
                  <a:spcPts val="3600"/>
                </a:lnSpc>
              </a:pPr>
              <a:r>
                <a:rPr lang="en-US" sz="3000" b="1">
                  <a:solidFill>
                    <a:srgbClr val="D0D0D0"/>
                  </a:solidFill>
                  <a:latin typeface="HK Grotesk Bold"/>
                  <a:ea typeface="HK Grotesk Bold"/>
                  <a:cs typeface="HK Grotesk Bold"/>
                  <a:sym typeface="HK Grotesk Bold"/>
                </a:rPr>
                <a:t>Core interface for background processing tasks</a:t>
              </a:r>
            </a:p>
          </p:txBody>
        </p:sp>
      </p:grpSp>
      <p:sp>
        <p:nvSpPr>
          <p:cNvPr id="6" name="Freeform 6"/>
          <p:cNvSpPr/>
          <p:nvPr/>
        </p:nvSpPr>
        <p:spPr>
          <a:xfrm rot="-1268288">
            <a:off x="14795639" y="5873497"/>
            <a:ext cx="10936025" cy="10299747"/>
          </a:xfrm>
          <a:custGeom>
            <a:avLst/>
            <a:gdLst/>
            <a:ahLst/>
            <a:cxnLst/>
            <a:rect l="l" t="t" r="r" b="b"/>
            <a:pathLst>
              <a:path w="10936025" h="10299747">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sp>
        <p:nvSpPr>
          <p:cNvPr id="2" name="TextBox 2"/>
          <p:cNvSpPr txBox="1"/>
          <p:nvPr/>
        </p:nvSpPr>
        <p:spPr>
          <a:xfrm>
            <a:off x="666750" y="838200"/>
            <a:ext cx="14077950" cy="1166494"/>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IHostedService Lifecycle</a:t>
            </a:r>
          </a:p>
        </p:txBody>
      </p:sp>
      <p:sp>
        <p:nvSpPr>
          <p:cNvPr id="3" name="TextBox 3"/>
          <p:cNvSpPr txBox="1"/>
          <p:nvPr/>
        </p:nvSpPr>
        <p:spPr>
          <a:xfrm>
            <a:off x="666750" y="4391025"/>
            <a:ext cx="2856970" cy="4667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Host Starts App</a:t>
            </a:r>
          </a:p>
        </p:txBody>
      </p:sp>
      <p:sp>
        <p:nvSpPr>
          <p:cNvPr id="4" name="TextBox 4"/>
          <p:cNvSpPr txBox="1"/>
          <p:nvPr/>
        </p:nvSpPr>
        <p:spPr>
          <a:xfrm>
            <a:off x="6437076" y="4391025"/>
            <a:ext cx="3460518" cy="4667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StartAsync() Called</a:t>
            </a:r>
          </a:p>
        </p:txBody>
      </p:sp>
      <p:sp>
        <p:nvSpPr>
          <p:cNvPr id="5" name="AutoShape 5"/>
          <p:cNvSpPr/>
          <p:nvPr/>
        </p:nvSpPr>
        <p:spPr>
          <a:xfrm>
            <a:off x="990600" y="5457825"/>
            <a:ext cx="17607376" cy="0"/>
          </a:xfrm>
          <a:prstGeom prst="line">
            <a:avLst/>
          </a:prstGeom>
          <a:ln w="19050" cap="flat">
            <a:solidFill>
              <a:srgbClr val="A8A8A8"/>
            </a:solidFill>
            <a:prstDash val="solid"/>
            <a:headEnd type="none" w="sm" len="sm"/>
            <a:tailEnd type="none" w="sm" len="sm"/>
          </a:ln>
        </p:spPr>
        <p:txBody>
          <a:bodyPr/>
          <a:lstStyle/>
          <a:p>
            <a:endParaRPr lang="en-IN"/>
          </a:p>
        </p:txBody>
      </p:sp>
      <p:grpSp>
        <p:nvGrpSpPr>
          <p:cNvPr id="6" name="Group 6"/>
          <p:cNvGrpSpPr/>
          <p:nvPr/>
        </p:nvGrpSpPr>
        <p:grpSpPr>
          <a:xfrm>
            <a:off x="666750" y="5295900"/>
            <a:ext cx="323850" cy="323850"/>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8A8A8"/>
            </a:solidFill>
          </p:spPr>
          <p:txBody>
            <a:bodyPr/>
            <a:lstStyle/>
            <a:p>
              <a:endParaRPr lang="en-IN"/>
            </a:p>
          </p:txBody>
        </p:sp>
      </p:grpSp>
      <p:grpSp>
        <p:nvGrpSpPr>
          <p:cNvPr id="8" name="Group 8"/>
          <p:cNvGrpSpPr/>
          <p:nvPr/>
        </p:nvGrpSpPr>
        <p:grpSpPr>
          <a:xfrm>
            <a:off x="6443576" y="5295900"/>
            <a:ext cx="323850" cy="323850"/>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8A8A8"/>
            </a:solidFill>
          </p:spPr>
          <p:txBody>
            <a:bodyPr/>
            <a:lstStyle/>
            <a:p>
              <a:endParaRPr lang="en-IN"/>
            </a:p>
          </p:txBody>
        </p:sp>
      </p:grpSp>
      <p:grpSp>
        <p:nvGrpSpPr>
          <p:cNvPr id="10" name="Group 10"/>
          <p:cNvGrpSpPr/>
          <p:nvPr/>
        </p:nvGrpSpPr>
        <p:grpSpPr>
          <a:xfrm>
            <a:off x="12202645" y="5295900"/>
            <a:ext cx="323850" cy="323850"/>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8A8A8"/>
            </a:solidFill>
          </p:spPr>
          <p:txBody>
            <a:bodyPr/>
            <a:lstStyle/>
            <a:p>
              <a:endParaRPr lang="en-IN"/>
            </a:p>
          </p:txBody>
        </p:sp>
      </p:grpSp>
      <p:sp>
        <p:nvSpPr>
          <p:cNvPr id="12" name="TextBox 12"/>
          <p:cNvSpPr txBox="1"/>
          <p:nvPr/>
        </p:nvSpPr>
        <p:spPr>
          <a:xfrm>
            <a:off x="12192000" y="4391025"/>
            <a:ext cx="3460518" cy="4667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StopAsync() Called</a:t>
            </a:r>
          </a:p>
        </p:txBody>
      </p:sp>
      <p:sp>
        <p:nvSpPr>
          <p:cNvPr id="13" name="TextBox 13"/>
          <p:cNvSpPr txBox="1"/>
          <p:nvPr/>
        </p:nvSpPr>
        <p:spPr>
          <a:xfrm>
            <a:off x="666750" y="5991225"/>
            <a:ext cx="4455354" cy="1057275"/>
          </a:xfrm>
          <a:prstGeom prst="rect">
            <a:avLst/>
          </a:prstGeom>
        </p:spPr>
        <p:txBody>
          <a:bodyPr lIns="0" tIns="0" rIns="0" bIns="0" rtlCol="0" anchor="t">
            <a:spAutoFit/>
          </a:bodyPr>
          <a:lstStyle/>
          <a:p>
            <a:pPr marL="0" lvl="0" indent="0" algn="l">
              <a:lnSpc>
                <a:spcPts val="4200"/>
              </a:lnSpc>
              <a:spcBef>
                <a:spcPct val="0"/>
              </a:spcBef>
            </a:pPr>
            <a:r>
              <a:rPr lang="en-US" sz="3000">
                <a:solidFill>
                  <a:srgbClr val="A8A8A8"/>
                </a:solidFill>
                <a:latin typeface="HK Grotesk"/>
                <a:ea typeface="HK Grotesk"/>
                <a:cs typeface="HK Grotesk"/>
                <a:sym typeface="HK Grotesk"/>
              </a:rPr>
              <a:t>The host initializes the application environment.</a:t>
            </a:r>
          </a:p>
        </p:txBody>
      </p:sp>
      <p:sp>
        <p:nvSpPr>
          <p:cNvPr id="14" name="TextBox 14"/>
          <p:cNvSpPr txBox="1"/>
          <p:nvPr/>
        </p:nvSpPr>
        <p:spPr>
          <a:xfrm>
            <a:off x="6443576" y="5991225"/>
            <a:ext cx="3986299" cy="1057275"/>
          </a:xfrm>
          <a:prstGeom prst="rect">
            <a:avLst/>
          </a:prstGeom>
        </p:spPr>
        <p:txBody>
          <a:bodyPr lIns="0" tIns="0" rIns="0" bIns="0" rtlCol="0" anchor="t">
            <a:spAutoFit/>
          </a:bodyPr>
          <a:lstStyle/>
          <a:p>
            <a:pPr marL="0" lvl="0" indent="0" algn="l">
              <a:lnSpc>
                <a:spcPts val="4200"/>
              </a:lnSpc>
              <a:spcBef>
                <a:spcPct val="0"/>
              </a:spcBef>
            </a:pPr>
            <a:r>
              <a:rPr lang="en-US" sz="3000" u="none" strike="noStrike">
                <a:solidFill>
                  <a:srgbClr val="A8A8A8"/>
                </a:solidFill>
                <a:latin typeface="HK Grotesk"/>
                <a:ea typeface="HK Grotesk"/>
                <a:cs typeface="HK Grotesk"/>
                <a:sym typeface="HK Grotesk"/>
              </a:rPr>
              <a:t>The application begins its execution process.</a:t>
            </a:r>
          </a:p>
        </p:txBody>
      </p:sp>
      <p:sp>
        <p:nvSpPr>
          <p:cNvPr id="15" name="TextBox 15"/>
          <p:cNvSpPr txBox="1"/>
          <p:nvPr/>
        </p:nvSpPr>
        <p:spPr>
          <a:xfrm>
            <a:off x="12172950" y="5991225"/>
            <a:ext cx="4010025" cy="1057275"/>
          </a:xfrm>
          <a:prstGeom prst="rect">
            <a:avLst/>
          </a:prstGeom>
        </p:spPr>
        <p:txBody>
          <a:bodyPr lIns="0" tIns="0" rIns="0" bIns="0" rtlCol="0" anchor="t">
            <a:spAutoFit/>
          </a:bodyPr>
          <a:lstStyle/>
          <a:p>
            <a:pPr marL="0" lvl="0" indent="0" algn="l">
              <a:lnSpc>
                <a:spcPts val="4200"/>
              </a:lnSpc>
              <a:spcBef>
                <a:spcPct val="0"/>
              </a:spcBef>
            </a:pPr>
            <a:r>
              <a:rPr lang="en-US" sz="3000" u="none" strike="noStrike">
                <a:solidFill>
                  <a:srgbClr val="A8A8A8"/>
                </a:solidFill>
                <a:latin typeface="HK Grotesk"/>
                <a:ea typeface="HK Grotesk"/>
                <a:cs typeface="HK Grotesk"/>
                <a:sym typeface="HK Grotesk"/>
              </a:rPr>
              <a:t>The application handles a shutdown request.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grpSp>
        <p:nvGrpSpPr>
          <p:cNvPr id="2" name="Group 2"/>
          <p:cNvGrpSpPr/>
          <p:nvPr/>
        </p:nvGrpSpPr>
        <p:grpSpPr>
          <a:xfrm>
            <a:off x="2105025" y="3002297"/>
            <a:ext cx="12639675" cy="3914808"/>
            <a:chOff x="0" y="0"/>
            <a:chExt cx="16852900" cy="5219744"/>
          </a:xfrm>
        </p:grpSpPr>
        <p:sp>
          <p:nvSpPr>
            <p:cNvPr id="3" name="TextBox 3"/>
            <p:cNvSpPr txBox="1"/>
            <p:nvPr/>
          </p:nvSpPr>
          <p:spPr>
            <a:xfrm>
              <a:off x="0" y="171450"/>
              <a:ext cx="16852900" cy="1612476"/>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BackgroundService</a:t>
              </a:r>
            </a:p>
          </p:txBody>
        </p:sp>
        <p:sp>
          <p:nvSpPr>
            <p:cNvPr id="4" name="TextBox 4"/>
            <p:cNvSpPr txBox="1"/>
            <p:nvPr/>
          </p:nvSpPr>
          <p:spPr>
            <a:xfrm>
              <a:off x="0" y="3251244"/>
              <a:ext cx="16852900" cy="1968500"/>
            </a:xfrm>
            <a:prstGeom prst="rect">
              <a:avLst/>
            </a:prstGeom>
          </p:spPr>
          <p:txBody>
            <a:bodyPr lIns="0" tIns="0" rIns="0" bIns="0" rtlCol="0" anchor="t">
              <a:spAutoFit/>
            </a:bodyPr>
            <a:lstStyle/>
            <a:p>
              <a:pPr marL="0" lvl="0" indent="0" algn="l">
                <a:lnSpc>
                  <a:spcPts val="3900"/>
                </a:lnSpc>
              </a:pPr>
              <a:r>
                <a:rPr lang="en-US" sz="3000">
                  <a:solidFill>
                    <a:srgbClr val="A8A8A8"/>
                  </a:solidFill>
                  <a:latin typeface="HK Grotesk Light"/>
                  <a:ea typeface="HK Grotesk Light"/>
                  <a:cs typeface="HK Grotesk Light"/>
                  <a:sym typeface="HK Grotesk Light"/>
                </a:rPr>
                <a:t>BackgroundService serves as a </a:t>
              </a:r>
              <a:r>
                <a:rPr lang="en-US" sz="3000" b="1">
                  <a:solidFill>
                    <a:srgbClr val="A8A8A8"/>
                  </a:solidFill>
                  <a:latin typeface="HK Grotesk Bold"/>
                  <a:ea typeface="HK Grotesk Bold"/>
                  <a:cs typeface="HK Grotesk Bold"/>
                  <a:sym typeface="HK Grotesk Bold"/>
                </a:rPr>
                <a:t>base class</a:t>
              </a:r>
              <a:r>
                <a:rPr lang="en-US" sz="3000">
                  <a:solidFill>
                    <a:srgbClr val="A8A8A8"/>
                  </a:solidFill>
                  <a:latin typeface="HK Grotesk Light"/>
                  <a:ea typeface="HK Grotesk Light"/>
                  <a:cs typeface="HK Grotesk Light"/>
                  <a:sym typeface="HK Grotesk Light"/>
                </a:rPr>
                <a:t> derived from IHostedService, designed to facilitate the execution of long-running asynchronous tasks while handling cancellation seamlessly through ExecuteAsync().</a:t>
              </a:r>
            </a:p>
          </p:txBody>
        </p:sp>
        <p:sp>
          <p:nvSpPr>
            <p:cNvPr id="5" name="TextBox 5"/>
            <p:cNvSpPr txBox="1"/>
            <p:nvPr/>
          </p:nvSpPr>
          <p:spPr>
            <a:xfrm>
              <a:off x="0" y="2086063"/>
              <a:ext cx="16852900" cy="619125"/>
            </a:xfrm>
            <a:prstGeom prst="rect">
              <a:avLst/>
            </a:prstGeom>
          </p:spPr>
          <p:txBody>
            <a:bodyPr lIns="0" tIns="0" rIns="0" bIns="0" rtlCol="0" anchor="t">
              <a:spAutoFit/>
            </a:bodyPr>
            <a:lstStyle/>
            <a:p>
              <a:pPr marL="0" lvl="0" indent="0" algn="l">
                <a:lnSpc>
                  <a:spcPts val="3600"/>
                </a:lnSpc>
              </a:pPr>
              <a:r>
                <a:rPr lang="en-US" sz="3000" b="1">
                  <a:solidFill>
                    <a:srgbClr val="D0D0D0"/>
                  </a:solidFill>
                  <a:latin typeface="HK Grotesk Bold"/>
                  <a:ea typeface="HK Grotesk Bold"/>
                  <a:cs typeface="HK Grotesk Bold"/>
                  <a:sym typeface="HK Grotesk Bold"/>
                </a:rPr>
                <a:t>Simplifying Long-Running Async Tasks</a:t>
              </a:r>
            </a:p>
          </p:txBody>
        </p:sp>
      </p:grpSp>
      <p:sp>
        <p:nvSpPr>
          <p:cNvPr id="6" name="Freeform 6"/>
          <p:cNvSpPr/>
          <p:nvPr/>
        </p:nvSpPr>
        <p:spPr>
          <a:xfrm rot="-1268288">
            <a:off x="14795639" y="5873497"/>
            <a:ext cx="10936025" cy="10299747"/>
          </a:xfrm>
          <a:custGeom>
            <a:avLst/>
            <a:gdLst/>
            <a:ahLst/>
            <a:cxnLst/>
            <a:rect l="l" t="t" r="r" b="b"/>
            <a:pathLst>
              <a:path w="10936025" h="10299747">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sp>
        <p:nvSpPr>
          <p:cNvPr id="2" name="TextBox 2"/>
          <p:cNvSpPr txBox="1"/>
          <p:nvPr/>
        </p:nvSpPr>
        <p:spPr>
          <a:xfrm>
            <a:off x="666750" y="838200"/>
            <a:ext cx="14077950" cy="2280919"/>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BackgroundService Lifecycle</a:t>
            </a:r>
          </a:p>
        </p:txBody>
      </p:sp>
      <p:sp>
        <p:nvSpPr>
          <p:cNvPr id="3" name="TextBox 3"/>
          <p:cNvSpPr txBox="1"/>
          <p:nvPr/>
        </p:nvSpPr>
        <p:spPr>
          <a:xfrm>
            <a:off x="666750" y="4391025"/>
            <a:ext cx="2856970" cy="4667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StartAsync</a:t>
            </a:r>
          </a:p>
        </p:txBody>
      </p:sp>
      <p:sp>
        <p:nvSpPr>
          <p:cNvPr id="4" name="TextBox 4"/>
          <p:cNvSpPr txBox="1"/>
          <p:nvPr/>
        </p:nvSpPr>
        <p:spPr>
          <a:xfrm>
            <a:off x="6437076" y="4391025"/>
            <a:ext cx="2859324" cy="4667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ExecuteAsync</a:t>
            </a:r>
          </a:p>
        </p:txBody>
      </p:sp>
      <p:sp>
        <p:nvSpPr>
          <p:cNvPr id="5" name="AutoShape 5"/>
          <p:cNvSpPr/>
          <p:nvPr/>
        </p:nvSpPr>
        <p:spPr>
          <a:xfrm>
            <a:off x="990600" y="5457825"/>
            <a:ext cx="17607376" cy="0"/>
          </a:xfrm>
          <a:prstGeom prst="line">
            <a:avLst/>
          </a:prstGeom>
          <a:ln w="19050" cap="flat">
            <a:solidFill>
              <a:srgbClr val="A8A8A8"/>
            </a:solidFill>
            <a:prstDash val="solid"/>
            <a:headEnd type="none" w="sm" len="sm"/>
            <a:tailEnd type="none" w="sm" len="sm"/>
          </a:ln>
        </p:spPr>
        <p:txBody>
          <a:bodyPr/>
          <a:lstStyle/>
          <a:p>
            <a:endParaRPr lang="en-IN"/>
          </a:p>
        </p:txBody>
      </p:sp>
      <p:grpSp>
        <p:nvGrpSpPr>
          <p:cNvPr id="6" name="Group 6"/>
          <p:cNvGrpSpPr/>
          <p:nvPr/>
        </p:nvGrpSpPr>
        <p:grpSpPr>
          <a:xfrm>
            <a:off x="666750" y="5295900"/>
            <a:ext cx="323850" cy="323850"/>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8A8A8"/>
            </a:solidFill>
          </p:spPr>
          <p:txBody>
            <a:bodyPr/>
            <a:lstStyle/>
            <a:p>
              <a:endParaRPr lang="en-IN"/>
            </a:p>
          </p:txBody>
        </p:sp>
      </p:grpSp>
      <p:grpSp>
        <p:nvGrpSpPr>
          <p:cNvPr id="8" name="Group 8"/>
          <p:cNvGrpSpPr/>
          <p:nvPr/>
        </p:nvGrpSpPr>
        <p:grpSpPr>
          <a:xfrm>
            <a:off x="6443576" y="5295900"/>
            <a:ext cx="323850" cy="323850"/>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8A8A8"/>
            </a:solidFill>
          </p:spPr>
          <p:txBody>
            <a:bodyPr/>
            <a:lstStyle/>
            <a:p>
              <a:endParaRPr lang="en-IN"/>
            </a:p>
          </p:txBody>
        </p:sp>
      </p:grpSp>
      <p:grpSp>
        <p:nvGrpSpPr>
          <p:cNvPr id="10" name="Group 10"/>
          <p:cNvGrpSpPr/>
          <p:nvPr/>
        </p:nvGrpSpPr>
        <p:grpSpPr>
          <a:xfrm>
            <a:off x="12202645" y="5295900"/>
            <a:ext cx="323850" cy="323850"/>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8A8A8"/>
            </a:solidFill>
          </p:spPr>
          <p:txBody>
            <a:bodyPr/>
            <a:lstStyle/>
            <a:p>
              <a:endParaRPr lang="en-IN"/>
            </a:p>
          </p:txBody>
        </p:sp>
      </p:grpSp>
      <p:sp>
        <p:nvSpPr>
          <p:cNvPr id="12" name="TextBox 12"/>
          <p:cNvSpPr txBox="1"/>
          <p:nvPr/>
        </p:nvSpPr>
        <p:spPr>
          <a:xfrm>
            <a:off x="12192000" y="4391025"/>
            <a:ext cx="2859324" cy="4667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Clean Exit</a:t>
            </a:r>
          </a:p>
        </p:txBody>
      </p:sp>
      <p:sp>
        <p:nvSpPr>
          <p:cNvPr id="13" name="TextBox 13"/>
          <p:cNvSpPr txBox="1"/>
          <p:nvPr/>
        </p:nvSpPr>
        <p:spPr>
          <a:xfrm>
            <a:off x="666750" y="5991225"/>
            <a:ext cx="4010025" cy="1057275"/>
          </a:xfrm>
          <a:prstGeom prst="rect">
            <a:avLst/>
          </a:prstGeom>
        </p:spPr>
        <p:txBody>
          <a:bodyPr lIns="0" tIns="0" rIns="0" bIns="0" rtlCol="0" anchor="t">
            <a:spAutoFit/>
          </a:bodyPr>
          <a:lstStyle/>
          <a:p>
            <a:pPr marL="0" lvl="0" indent="0" algn="l">
              <a:lnSpc>
                <a:spcPts val="4200"/>
              </a:lnSpc>
              <a:spcBef>
                <a:spcPct val="0"/>
              </a:spcBef>
            </a:pPr>
            <a:r>
              <a:rPr lang="en-US" sz="3000">
                <a:solidFill>
                  <a:srgbClr val="A8A8A8"/>
                </a:solidFill>
                <a:latin typeface="HK Grotesk"/>
                <a:ea typeface="HK Grotesk"/>
                <a:cs typeface="HK Grotesk"/>
                <a:sym typeface="HK Grotesk"/>
              </a:rPr>
              <a:t>Host initiates service starting sequence.</a:t>
            </a:r>
          </a:p>
        </p:txBody>
      </p:sp>
      <p:sp>
        <p:nvSpPr>
          <p:cNvPr id="14" name="TextBox 14"/>
          <p:cNvSpPr txBox="1"/>
          <p:nvPr/>
        </p:nvSpPr>
        <p:spPr>
          <a:xfrm>
            <a:off x="6443576" y="5991225"/>
            <a:ext cx="4342563" cy="1057275"/>
          </a:xfrm>
          <a:prstGeom prst="rect">
            <a:avLst/>
          </a:prstGeom>
        </p:spPr>
        <p:txBody>
          <a:bodyPr lIns="0" tIns="0" rIns="0" bIns="0" rtlCol="0" anchor="t">
            <a:spAutoFit/>
          </a:bodyPr>
          <a:lstStyle/>
          <a:p>
            <a:pPr marL="0" lvl="0" indent="0" algn="l">
              <a:lnSpc>
                <a:spcPts val="4200"/>
              </a:lnSpc>
              <a:spcBef>
                <a:spcPct val="0"/>
              </a:spcBef>
            </a:pPr>
            <a:r>
              <a:rPr lang="en-US" sz="3000" u="none" strike="noStrike">
                <a:solidFill>
                  <a:srgbClr val="A8A8A8"/>
                </a:solidFill>
                <a:latin typeface="HK Grotesk"/>
                <a:ea typeface="HK Grotesk"/>
                <a:cs typeface="HK Grotesk"/>
                <a:sym typeface="HK Grotesk"/>
              </a:rPr>
              <a:t>Background task runs until cancellation occurs.</a:t>
            </a:r>
          </a:p>
        </p:txBody>
      </p:sp>
      <p:sp>
        <p:nvSpPr>
          <p:cNvPr id="15" name="TextBox 15"/>
          <p:cNvSpPr txBox="1"/>
          <p:nvPr/>
        </p:nvSpPr>
        <p:spPr>
          <a:xfrm>
            <a:off x="12172950" y="5991225"/>
            <a:ext cx="4833884" cy="1057275"/>
          </a:xfrm>
          <a:prstGeom prst="rect">
            <a:avLst/>
          </a:prstGeom>
        </p:spPr>
        <p:txBody>
          <a:bodyPr lIns="0" tIns="0" rIns="0" bIns="0" rtlCol="0" anchor="t">
            <a:spAutoFit/>
          </a:bodyPr>
          <a:lstStyle/>
          <a:p>
            <a:pPr marL="0" lvl="0" indent="0" algn="l">
              <a:lnSpc>
                <a:spcPts val="4200"/>
              </a:lnSpc>
              <a:spcBef>
                <a:spcPct val="0"/>
              </a:spcBef>
            </a:pPr>
            <a:r>
              <a:rPr lang="en-US" sz="3000" u="none" strike="noStrike">
                <a:solidFill>
                  <a:srgbClr val="A8A8A8"/>
                </a:solidFill>
                <a:latin typeface="HK Grotesk"/>
                <a:ea typeface="HK Grotesk"/>
                <a:cs typeface="HK Grotesk"/>
                <a:sym typeface="HK Grotesk"/>
              </a:rPr>
              <a:t>Service gracefully stops upon cancellation token trigger.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4077950" cy="2062247"/>
            <a:chOff x="0" y="0"/>
            <a:chExt cx="18770600" cy="2749662"/>
          </a:xfrm>
        </p:grpSpPr>
        <p:sp>
          <p:nvSpPr>
            <p:cNvPr id="3" name="TextBox 3"/>
            <p:cNvSpPr txBox="1"/>
            <p:nvPr/>
          </p:nvSpPr>
          <p:spPr>
            <a:xfrm>
              <a:off x="0" y="171450"/>
              <a:ext cx="18770600" cy="1612476"/>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Lifecycle Comparison</a:t>
              </a:r>
            </a:p>
          </p:txBody>
        </p:sp>
        <p:sp>
          <p:nvSpPr>
            <p:cNvPr id="4" name="TextBox 4"/>
            <p:cNvSpPr txBox="1"/>
            <p:nvPr/>
          </p:nvSpPr>
          <p:spPr>
            <a:xfrm>
              <a:off x="0" y="2130537"/>
              <a:ext cx="18770600" cy="6191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Understanding IHostedService and BackgroundService</a:t>
              </a:r>
            </a:p>
          </p:txBody>
        </p:sp>
      </p:grpSp>
      <p:grpSp>
        <p:nvGrpSpPr>
          <p:cNvPr id="5" name="Group 5"/>
          <p:cNvGrpSpPr/>
          <p:nvPr/>
        </p:nvGrpSpPr>
        <p:grpSpPr>
          <a:xfrm>
            <a:off x="666750" y="5143500"/>
            <a:ext cx="6886575" cy="3333750"/>
            <a:chOff x="0" y="0"/>
            <a:chExt cx="9182100" cy="4445000"/>
          </a:xfrm>
        </p:grpSpPr>
        <p:sp>
          <p:nvSpPr>
            <p:cNvPr id="6" name="TextBox 6"/>
            <p:cNvSpPr txBox="1"/>
            <p:nvPr/>
          </p:nvSpPr>
          <p:spPr>
            <a:xfrm>
              <a:off x="0" y="-9525"/>
              <a:ext cx="9182100" cy="6191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IHostedService Management</a:t>
              </a:r>
            </a:p>
          </p:txBody>
        </p:sp>
        <p:sp>
          <p:nvSpPr>
            <p:cNvPr id="7" name="TextBox 7"/>
            <p:cNvSpPr txBox="1"/>
            <p:nvPr/>
          </p:nvSpPr>
          <p:spPr>
            <a:xfrm>
              <a:off x="0" y="1155700"/>
              <a:ext cx="9182100" cy="3289300"/>
            </a:xfrm>
            <a:prstGeom prst="rect">
              <a:avLst/>
            </a:prstGeom>
          </p:spPr>
          <p:txBody>
            <a:bodyPr lIns="0" tIns="0" rIns="0" bIns="0" rtlCol="0" anchor="t">
              <a:spAutoFit/>
            </a:bodyPr>
            <a:lstStyle/>
            <a:p>
              <a:pPr marL="0" lvl="0" indent="0" algn="l">
                <a:lnSpc>
                  <a:spcPts val="3900"/>
                </a:lnSpc>
              </a:pPr>
              <a:r>
                <a:rPr lang="en-US" sz="3000" u="none" strike="noStrike">
                  <a:solidFill>
                    <a:srgbClr val="A8A8A8"/>
                  </a:solidFill>
                  <a:latin typeface="HK Grotesk Light"/>
                  <a:ea typeface="HK Grotesk Light"/>
                  <a:cs typeface="HK Grotesk Light"/>
                  <a:sym typeface="HK Grotesk Light"/>
                </a:rPr>
                <a:t>IHostedService offers </a:t>
              </a:r>
              <a:r>
                <a:rPr lang="en-US" sz="3000" b="1" u="none" strike="noStrike">
                  <a:solidFill>
                    <a:srgbClr val="A8A8A8"/>
                  </a:solidFill>
                  <a:latin typeface="HK Grotesk Bold"/>
                  <a:ea typeface="HK Grotesk Bold"/>
                  <a:cs typeface="HK Grotesk Bold"/>
                  <a:sym typeface="HK Grotesk Bold"/>
                </a:rPr>
                <a:t>manual control</a:t>
              </a:r>
              <a:r>
                <a:rPr lang="en-US" sz="3000" u="none" strike="noStrike">
                  <a:solidFill>
                    <a:srgbClr val="A8A8A8"/>
                  </a:solidFill>
                  <a:latin typeface="HK Grotesk Light"/>
                  <a:ea typeface="HK Grotesk Light"/>
                  <a:cs typeface="HK Grotesk Light"/>
                  <a:sym typeface="HK Grotesk Light"/>
                </a:rPr>
                <a:t> over lifecycle management, allowing precise startup and shutdown processes, but it often requires more boilerplate code.</a:t>
              </a:r>
            </a:p>
          </p:txBody>
        </p:sp>
      </p:grpSp>
      <p:grpSp>
        <p:nvGrpSpPr>
          <p:cNvPr id="8" name="Group 8"/>
          <p:cNvGrpSpPr/>
          <p:nvPr/>
        </p:nvGrpSpPr>
        <p:grpSpPr>
          <a:xfrm>
            <a:off x="7858125" y="5143500"/>
            <a:ext cx="6886575" cy="3333750"/>
            <a:chOff x="0" y="0"/>
            <a:chExt cx="9182100" cy="4445000"/>
          </a:xfrm>
        </p:grpSpPr>
        <p:sp>
          <p:nvSpPr>
            <p:cNvPr id="9" name="TextBox 9"/>
            <p:cNvSpPr txBox="1"/>
            <p:nvPr/>
          </p:nvSpPr>
          <p:spPr>
            <a:xfrm>
              <a:off x="0" y="-9525"/>
              <a:ext cx="91821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solidFill>
                    <a:srgbClr val="D0D0D0"/>
                  </a:solidFill>
                  <a:latin typeface="HK Grotesk Bold"/>
                  <a:ea typeface="HK Grotesk Bold"/>
                  <a:cs typeface="HK Grotesk Bold"/>
                  <a:sym typeface="HK Grotesk Bold"/>
                </a:rPr>
                <a:t>BackgroundService Advantages</a:t>
              </a:r>
            </a:p>
          </p:txBody>
        </p:sp>
        <p:sp>
          <p:nvSpPr>
            <p:cNvPr id="10" name="TextBox 10"/>
            <p:cNvSpPr txBox="1"/>
            <p:nvPr/>
          </p:nvSpPr>
          <p:spPr>
            <a:xfrm>
              <a:off x="0" y="1155700"/>
              <a:ext cx="9182100" cy="3289300"/>
            </a:xfrm>
            <a:prstGeom prst="rect">
              <a:avLst/>
            </a:prstGeom>
          </p:spPr>
          <p:txBody>
            <a:bodyPr lIns="0" tIns="0" rIns="0" bIns="0" rtlCol="0" anchor="t">
              <a:spAutoFit/>
            </a:bodyPr>
            <a:lstStyle/>
            <a:p>
              <a:pPr marL="0" lvl="0" indent="0" algn="l">
                <a:lnSpc>
                  <a:spcPts val="3900"/>
                </a:lnSpc>
              </a:pPr>
              <a:r>
                <a:rPr lang="en-US" sz="3000" u="none" strike="noStrike">
                  <a:solidFill>
                    <a:srgbClr val="A8A8A8"/>
                  </a:solidFill>
                  <a:latin typeface="HK Grotesk Light"/>
                  <a:ea typeface="HK Grotesk Light"/>
                  <a:cs typeface="HK Grotesk Light"/>
                  <a:sym typeface="HK Grotesk Light"/>
                </a:rPr>
                <a:t>BackgroundService simplifies async task execution, reducing boilerplate and enhancing code clarity, making it the preferred choice in most development scenarios for background processing.</a:t>
              </a:r>
            </a:p>
          </p:txBody>
        </p:sp>
      </p:grpSp>
      <p:sp>
        <p:nvSpPr>
          <p:cNvPr id="11" name="Freeform 11"/>
          <p:cNvSpPr/>
          <p:nvPr/>
        </p:nvSpPr>
        <p:spPr>
          <a:xfrm rot="4437773">
            <a:off x="13770320" y="-6241286"/>
            <a:ext cx="12640239" cy="11904807"/>
          </a:xfrm>
          <a:custGeom>
            <a:avLst/>
            <a:gdLst/>
            <a:ahLst/>
            <a:cxnLst/>
            <a:rect l="l" t="t" r="r" b="b"/>
            <a:pathLst>
              <a:path w="12640239" h="11904807">
                <a:moveTo>
                  <a:pt x="0" y="0"/>
                </a:moveTo>
                <a:lnTo>
                  <a:pt x="12640239" y="0"/>
                </a:lnTo>
                <a:lnTo>
                  <a:pt x="12640239" y="11904806"/>
                </a:lnTo>
                <a:lnTo>
                  <a:pt x="0" y="1190480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sp>
        <p:nvSpPr>
          <p:cNvPr id="2" name="Freeform 2"/>
          <p:cNvSpPr/>
          <p:nvPr/>
        </p:nvSpPr>
        <p:spPr>
          <a:xfrm rot="-1268288">
            <a:off x="14795639" y="5873497"/>
            <a:ext cx="10936025" cy="10299747"/>
          </a:xfrm>
          <a:custGeom>
            <a:avLst/>
            <a:gdLst/>
            <a:ahLst/>
            <a:cxnLst/>
            <a:rect l="l" t="t" r="r" b="b"/>
            <a:pathLst>
              <a:path w="10936025" h="10299747">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3" name="Freeform 3"/>
          <p:cNvSpPr/>
          <p:nvPr/>
        </p:nvSpPr>
        <p:spPr>
          <a:xfrm rot="-1268288">
            <a:off x="-6005389" y="-6781594"/>
            <a:ext cx="10936025" cy="10299747"/>
          </a:xfrm>
          <a:custGeom>
            <a:avLst/>
            <a:gdLst/>
            <a:ahLst/>
            <a:cxnLst/>
            <a:rect l="l" t="t" r="r" b="b"/>
            <a:pathLst>
              <a:path w="10936025" h="10299747">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4" name="TextBox 4"/>
          <p:cNvSpPr txBox="1"/>
          <p:nvPr/>
        </p:nvSpPr>
        <p:spPr>
          <a:xfrm>
            <a:off x="2105025" y="3862388"/>
            <a:ext cx="12639675" cy="2280919"/>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Lifecycle and Execution Best Practices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grpSp>
        <p:nvGrpSpPr>
          <p:cNvPr id="2" name="Group 2"/>
          <p:cNvGrpSpPr/>
          <p:nvPr/>
        </p:nvGrpSpPr>
        <p:grpSpPr>
          <a:xfrm>
            <a:off x="2105025" y="3002297"/>
            <a:ext cx="12639675" cy="3914808"/>
            <a:chOff x="0" y="0"/>
            <a:chExt cx="16852900" cy="5219744"/>
          </a:xfrm>
        </p:grpSpPr>
        <p:sp>
          <p:nvSpPr>
            <p:cNvPr id="3" name="TextBox 3"/>
            <p:cNvSpPr txBox="1"/>
            <p:nvPr/>
          </p:nvSpPr>
          <p:spPr>
            <a:xfrm>
              <a:off x="0" y="171450"/>
              <a:ext cx="16852900" cy="1612476"/>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Cancellation Tokens</a:t>
              </a:r>
            </a:p>
          </p:txBody>
        </p:sp>
        <p:sp>
          <p:nvSpPr>
            <p:cNvPr id="4" name="TextBox 4"/>
            <p:cNvSpPr txBox="1"/>
            <p:nvPr/>
          </p:nvSpPr>
          <p:spPr>
            <a:xfrm>
              <a:off x="0" y="3251244"/>
              <a:ext cx="16852900" cy="1968500"/>
            </a:xfrm>
            <a:prstGeom prst="rect">
              <a:avLst/>
            </a:prstGeom>
          </p:spPr>
          <p:txBody>
            <a:bodyPr lIns="0" tIns="0" rIns="0" bIns="0" rtlCol="0" anchor="t">
              <a:spAutoFit/>
            </a:bodyPr>
            <a:lstStyle/>
            <a:p>
              <a:pPr marL="0" lvl="0" indent="0" algn="l">
                <a:lnSpc>
                  <a:spcPts val="3900"/>
                </a:lnSpc>
              </a:pPr>
              <a:r>
                <a:rPr lang="en-US" sz="3000" b="1">
                  <a:solidFill>
                    <a:srgbClr val="A8A8A8"/>
                  </a:solidFill>
                  <a:latin typeface="HK Grotesk Bold"/>
                  <a:ea typeface="HK Grotesk Bold"/>
                  <a:cs typeface="HK Grotesk Bold"/>
                  <a:sym typeface="HK Grotesk Bold"/>
                </a:rPr>
                <a:t>Cancellation tokens</a:t>
              </a:r>
              <a:r>
                <a:rPr lang="en-US" sz="3000">
                  <a:solidFill>
                    <a:srgbClr val="A8A8A8"/>
                  </a:solidFill>
                  <a:latin typeface="HK Grotesk Light"/>
                  <a:ea typeface="HK Grotesk Light"/>
                  <a:cs typeface="HK Grotesk Light"/>
                  <a:sym typeface="HK Grotesk Light"/>
                </a:rPr>
                <a:t> are essential for graceful shutdowns in hosted services, especially in dynamic environments like containers and Kubernetes, where avoiding data corruption is critical.</a:t>
              </a:r>
            </a:p>
          </p:txBody>
        </p:sp>
        <p:sp>
          <p:nvSpPr>
            <p:cNvPr id="5" name="TextBox 5"/>
            <p:cNvSpPr txBox="1"/>
            <p:nvPr/>
          </p:nvSpPr>
          <p:spPr>
            <a:xfrm>
              <a:off x="0" y="2086063"/>
              <a:ext cx="16852900" cy="619125"/>
            </a:xfrm>
            <a:prstGeom prst="rect">
              <a:avLst/>
            </a:prstGeom>
          </p:spPr>
          <p:txBody>
            <a:bodyPr lIns="0" tIns="0" rIns="0" bIns="0" rtlCol="0" anchor="t">
              <a:spAutoFit/>
            </a:bodyPr>
            <a:lstStyle/>
            <a:p>
              <a:pPr marL="0" lvl="0" indent="0" algn="l">
                <a:lnSpc>
                  <a:spcPts val="3600"/>
                </a:lnSpc>
              </a:pPr>
              <a:r>
                <a:rPr lang="en-US" sz="3000" b="1">
                  <a:solidFill>
                    <a:srgbClr val="A8A8A8"/>
                  </a:solidFill>
                  <a:latin typeface="HK Grotesk Bold"/>
                  <a:ea typeface="HK Grotesk Bold"/>
                  <a:cs typeface="HK Grotesk Bold"/>
                  <a:sym typeface="HK Grotesk Bold"/>
                </a:rPr>
                <a:t>Ensuring Safe Termination in Services</a:t>
              </a:r>
            </a:p>
          </p:txBody>
        </p:sp>
      </p:grpSp>
      <p:sp>
        <p:nvSpPr>
          <p:cNvPr id="6" name="Freeform 6"/>
          <p:cNvSpPr/>
          <p:nvPr/>
        </p:nvSpPr>
        <p:spPr>
          <a:xfrm rot="-1268288">
            <a:off x="14795639" y="5873497"/>
            <a:ext cx="10936025" cy="10299747"/>
          </a:xfrm>
          <a:custGeom>
            <a:avLst/>
            <a:gdLst/>
            <a:ahLst/>
            <a:cxnLst/>
            <a:rect l="l" t="t" r="r" b="b"/>
            <a:pathLst>
              <a:path w="10936025" h="10299747">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sp>
        <p:nvSpPr>
          <p:cNvPr id="2" name="Freeform 2"/>
          <p:cNvSpPr/>
          <p:nvPr/>
        </p:nvSpPr>
        <p:spPr>
          <a:xfrm rot="4437773">
            <a:off x="13770320" y="-6241286"/>
            <a:ext cx="12640239" cy="11904807"/>
          </a:xfrm>
          <a:custGeom>
            <a:avLst/>
            <a:gdLst/>
            <a:ahLst/>
            <a:cxnLst/>
            <a:rect l="l" t="t" r="r" b="b"/>
            <a:pathLst>
              <a:path w="12640239" h="11904807">
                <a:moveTo>
                  <a:pt x="0" y="0"/>
                </a:moveTo>
                <a:lnTo>
                  <a:pt x="12640239" y="0"/>
                </a:lnTo>
                <a:lnTo>
                  <a:pt x="12640239" y="11904806"/>
                </a:lnTo>
                <a:lnTo>
                  <a:pt x="0" y="1190480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grpSp>
        <p:nvGrpSpPr>
          <p:cNvPr id="3" name="Group 3"/>
          <p:cNvGrpSpPr/>
          <p:nvPr/>
        </p:nvGrpSpPr>
        <p:grpSpPr>
          <a:xfrm>
            <a:off x="666750" y="666750"/>
            <a:ext cx="14077950" cy="2062247"/>
            <a:chOff x="0" y="0"/>
            <a:chExt cx="18770600" cy="2749662"/>
          </a:xfrm>
        </p:grpSpPr>
        <p:sp>
          <p:nvSpPr>
            <p:cNvPr id="4" name="TextBox 4"/>
            <p:cNvSpPr txBox="1"/>
            <p:nvPr/>
          </p:nvSpPr>
          <p:spPr>
            <a:xfrm>
              <a:off x="0" y="171450"/>
              <a:ext cx="18770600" cy="1612476"/>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Common Use Cases</a:t>
              </a:r>
            </a:p>
          </p:txBody>
        </p:sp>
        <p:sp>
          <p:nvSpPr>
            <p:cNvPr id="5" name="TextBox 5"/>
            <p:cNvSpPr txBox="1"/>
            <p:nvPr/>
          </p:nvSpPr>
          <p:spPr>
            <a:xfrm>
              <a:off x="0" y="2130537"/>
              <a:ext cx="18770600" cy="6191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Exploring practical applications of hosted services</a:t>
              </a:r>
            </a:p>
          </p:txBody>
        </p:sp>
      </p:grpSp>
      <p:grpSp>
        <p:nvGrpSpPr>
          <p:cNvPr id="6" name="Group 6"/>
          <p:cNvGrpSpPr/>
          <p:nvPr/>
        </p:nvGrpSpPr>
        <p:grpSpPr>
          <a:xfrm>
            <a:off x="666750" y="5143500"/>
            <a:ext cx="5448300" cy="3659267"/>
            <a:chOff x="0" y="0"/>
            <a:chExt cx="7264400" cy="4879022"/>
          </a:xfrm>
        </p:grpSpPr>
        <p:sp>
          <p:nvSpPr>
            <p:cNvPr id="7" name="TextBox 7"/>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Message Queue Consumers</a:t>
              </a:r>
            </a:p>
          </p:txBody>
        </p:sp>
        <p:sp>
          <p:nvSpPr>
            <p:cNvPr id="8" name="TextBox 8"/>
            <p:cNvSpPr txBox="1"/>
            <p:nvPr/>
          </p:nvSpPr>
          <p:spPr>
            <a:xfrm>
              <a:off x="0" y="1155700"/>
              <a:ext cx="7264400" cy="3723322"/>
            </a:xfrm>
            <a:prstGeom prst="rect">
              <a:avLst/>
            </a:prstGeom>
          </p:spPr>
          <p:txBody>
            <a:bodyPr lIns="0" tIns="0" rIns="0" bIns="0" rtlCol="0" anchor="t">
              <a:spAutoFit/>
            </a:bodyPr>
            <a:lstStyle/>
            <a:p>
              <a:pPr marL="0" lvl="0" indent="0" algn="l">
                <a:lnSpc>
                  <a:spcPts val="3729"/>
                </a:lnSpc>
              </a:pPr>
              <a:r>
                <a:rPr lang="en-US" sz="2868" u="none" strike="noStrike">
                  <a:solidFill>
                    <a:srgbClr val="A8A8A8"/>
                  </a:solidFill>
                  <a:latin typeface="HK Grotesk Light"/>
                  <a:ea typeface="HK Grotesk Light"/>
                  <a:cs typeface="HK Grotesk Light"/>
                  <a:sym typeface="HK Grotesk Light"/>
                </a:rPr>
                <a:t>Hosted services are ideal for processing messages from queues, allowing applications to handle asynchronous tasks efficiently and ensure reliable communication between components.</a:t>
              </a:r>
            </a:p>
          </p:txBody>
        </p:sp>
      </p:grpSp>
      <p:grpSp>
        <p:nvGrpSpPr>
          <p:cNvPr id="9" name="Group 9"/>
          <p:cNvGrpSpPr/>
          <p:nvPr/>
        </p:nvGrpSpPr>
        <p:grpSpPr>
          <a:xfrm>
            <a:off x="6419850" y="5143500"/>
            <a:ext cx="5448300" cy="3659267"/>
            <a:chOff x="0" y="0"/>
            <a:chExt cx="7264400" cy="4879022"/>
          </a:xfrm>
        </p:grpSpPr>
        <p:sp>
          <p:nvSpPr>
            <p:cNvPr id="10" name="TextBox 10"/>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solidFill>
                    <a:srgbClr val="D0D0D0"/>
                  </a:solidFill>
                  <a:latin typeface="HK Grotesk Bold"/>
                  <a:ea typeface="HK Grotesk Bold"/>
                  <a:cs typeface="HK Grotesk Bold"/>
                  <a:sym typeface="HK Grotesk Bold"/>
                </a:rPr>
                <a:t>Scheduled Jobs</a:t>
              </a:r>
            </a:p>
          </p:txBody>
        </p:sp>
        <p:sp>
          <p:nvSpPr>
            <p:cNvPr id="11" name="TextBox 11"/>
            <p:cNvSpPr txBox="1"/>
            <p:nvPr/>
          </p:nvSpPr>
          <p:spPr>
            <a:xfrm>
              <a:off x="0" y="1155700"/>
              <a:ext cx="7264400" cy="3723322"/>
            </a:xfrm>
            <a:prstGeom prst="rect">
              <a:avLst/>
            </a:prstGeom>
          </p:spPr>
          <p:txBody>
            <a:bodyPr lIns="0" tIns="0" rIns="0" bIns="0" rtlCol="0" anchor="t">
              <a:spAutoFit/>
            </a:bodyPr>
            <a:lstStyle/>
            <a:p>
              <a:pPr marL="0" lvl="0" indent="0" algn="l">
                <a:lnSpc>
                  <a:spcPts val="3729"/>
                </a:lnSpc>
              </a:pPr>
              <a:r>
                <a:rPr lang="en-US" sz="2868" u="none" strike="noStrike">
                  <a:solidFill>
                    <a:srgbClr val="A8A8A8"/>
                  </a:solidFill>
                  <a:latin typeface="HK Grotesk Light"/>
                  <a:ea typeface="HK Grotesk Light"/>
                  <a:cs typeface="HK Grotesk Light"/>
                  <a:sym typeface="HK Grotesk Light"/>
                </a:rPr>
                <a:t>They facilitate regular background tasks such as batch processing, report generation, or maintenance scripts, enabling seamless automation without interrupting application performance.</a:t>
              </a:r>
            </a:p>
          </p:txBody>
        </p:sp>
      </p:grpSp>
      <p:grpSp>
        <p:nvGrpSpPr>
          <p:cNvPr id="12" name="Group 12"/>
          <p:cNvGrpSpPr/>
          <p:nvPr/>
        </p:nvGrpSpPr>
        <p:grpSpPr>
          <a:xfrm>
            <a:off x="12172950" y="5143500"/>
            <a:ext cx="5448300" cy="3659267"/>
            <a:chOff x="0" y="0"/>
            <a:chExt cx="7264400" cy="4879022"/>
          </a:xfrm>
        </p:grpSpPr>
        <p:sp>
          <p:nvSpPr>
            <p:cNvPr id="13" name="TextBox 13"/>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solidFill>
                    <a:srgbClr val="D0D0D0"/>
                  </a:solidFill>
                  <a:latin typeface="HK Grotesk Bold"/>
                  <a:ea typeface="HK Grotesk Bold"/>
                  <a:cs typeface="HK Grotesk Bold"/>
                  <a:sym typeface="HK Grotesk Bold"/>
                </a:rPr>
                <a:t>Cache Warm-Up</a:t>
              </a:r>
            </a:p>
          </p:txBody>
        </p:sp>
        <p:sp>
          <p:nvSpPr>
            <p:cNvPr id="14" name="TextBox 14"/>
            <p:cNvSpPr txBox="1"/>
            <p:nvPr/>
          </p:nvSpPr>
          <p:spPr>
            <a:xfrm>
              <a:off x="0" y="1155700"/>
              <a:ext cx="7264400" cy="3723322"/>
            </a:xfrm>
            <a:prstGeom prst="rect">
              <a:avLst/>
            </a:prstGeom>
          </p:spPr>
          <p:txBody>
            <a:bodyPr lIns="0" tIns="0" rIns="0" bIns="0" rtlCol="0" anchor="t">
              <a:spAutoFit/>
            </a:bodyPr>
            <a:lstStyle/>
            <a:p>
              <a:pPr marL="0" lvl="0" indent="0" algn="l">
                <a:lnSpc>
                  <a:spcPts val="3729"/>
                </a:lnSpc>
              </a:pPr>
              <a:r>
                <a:rPr lang="en-US" sz="2868" u="none" strike="noStrike">
                  <a:solidFill>
                    <a:srgbClr val="A8A8A8"/>
                  </a:solidFill>
                  <a:latin typeface="HK Grotesk Light"/>
                  <a:ea typeface="HK Grotesk Light"/>
                  <a:cs typeface="HK Grotesk Light"/>
                  <a:sym typeface="HK Grotesk Light"/>
                </a:rPr>
                <a:t>Hosted services can proactively load data into cache during application startup, significantly improving response times and user experience by minimizing latency on first access.</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sp>
        <p:nvSpPr>
          <p:cNvPr id="2" name="Freeform 2"/>
          <p:cNvSpPr/>
          <p:nvPr/>
        </p:nvSpPr>
        <p:spPr>
          <a:xfrm rot="4437773">
            <a:off x="13770320" y="-6241286"/>
            <a:ext cx="12640239" cy="11904807"/>
          </a:xfrm>
          <a:custGeom>
            <a:avLst/>
            <a:gdLst/>
            <a:ahLst/>
            <a:cxnLst/>
            <a:rect l="l" t="t" r="r" b="b"/>
            <a:pathLst>
              <a:path w="12640239" h="11904807">
                <a:moveTo>
                  <a:pt x="0" y="0"/>
                </a:moveTo>
                <a:lnTo>
                  <a:pt x="12640239" y="0"/>
                </a:lnTo>
                <a:lnTo>
                  <a:pt x="12640239" y="11904806"/>
                </a:lnTo>
                <a:lnTo>
                  <a:pt x="0" y="1190480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grpSp>
        <p:nvGrpSpPr>
          <p:cNvPr id="3" name="Group 3"/>
          <p:cNvGrpSpPr/>
          <p:nvPr/>
        </p:nvGrpSpPr>
        <p:grpSpPr>
          <a:xfrm>
            <a:off x="666750" y="666750"/>
            <a:ext cx="14077950" cy="2062247"/>
            <a:chOff x="0" y="0"/>
            <a:chExt cx="18770600" cy="2749662"/>
          </a:xfrm>
        </p:grpSpPr>
        <p:sp>
          <p:nvSpPr>
            <p:cNvPr id="4" name="TextBox 4"/>
            <p:cNvSpPr txBox="1"/>
            <p:nvPr/>
          </p:nvSpPr>
          <p:spPr>
            <a:xfrm>
              <a:off x="0" y="171450"/>
              <a:ext cx="18770600" cy="1612476"/>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Anti-Patterns</a:t>
              </a:r>
            </a:p>
          </p:txBody>
        </p:sp>
        <p:sp>
          <p:nvSpPr>
            <p:cNvPr id="5" name="TextBox 5"/>
            <p:cNvSpPr txBox="1"/>
            <p:nvPr/>
          </p:nvSpPr>
          <p:spPr>
            <a:xfrm>
              <a:off x="0" y="2130537"/>
              <a:ext cx="18770600" cy="6191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Common pitfalls in hosted services</a:t>
              </a:r>
            </a:p>
          </p:txBody>
        </p:sp>
      </p:grpSp>
      <p:grpSp>
        <p:nvGrpSpPr>
          <p:cNvPr id="6" name="Group 6"/>
          <p:cNvGrpSpPr/>
          <p:nvPr/>
        </p:nvGrpSpPr>
        <p:grpSpPr>
          <a:xfrm>
            <a:off x="666750" y="5143500"/>
            <a:ext cx="5448300" cy="3659505"/>
            <a:chOff x="0" y="0"/>
            <a:chExt cx="7264400" cy="4879340"/>
          </a:xfrm>
        </p:grpSpPr>
        <p:sp>
          <p:nvSpPr>
            <p:cNvPr id="7" name="TextBox 7"/>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Infinite Loops</a:t>
              </a:r>
            </a:p>
          </p:txBody>
        </p:sp>
        <p:sp>
          <p:nvSpPr>
            <p:cNvPr id="8" name="TextBox 8"/>
            <p:cNvSpPr txBox="1"/>
            <p:nvPr/>
          </p:nvSpPr>
          <p:spPr>
            <a:xfrm>
              <a:off x="0" y="1155700"/>
              <a:ext cx="7264400" cy="3723640"/>
            </a:xfrm>
            <a:prstGeom prst="rect">
              <a:avLst/>
            </a:prstGeom>
          </p:spPr>
          <p:txBody>
            <a:bodyPr lIns="0" tIns="0" rIns="0" bIns="0" rtlCol="0" anchor="t">
              <a:spAutoFit/>
            </a:bodyPr>
            <a:lstStyle/>
            <a:p>
              <a:pPr marL="0" lvl="0" indent="0" algn="l">
                <a:lnSpc>
                  <a:spcPts val="3705"/>
                </a:lnSpc>
              </a:pPr>
              <a:r>
                <a:rPr lang="en-US" sz="2850" u="none" strike="noStrike">
                  <a:solidFill>
                    <a:srgbClr val="A8A8A8"/>
                  </a:solidFill>
                  <a:latin typeface="HK Grotesk Light"/>
                  <a:ea typeface="HK Grotesk Light"/>
                  <a:cs typeface="HK Grotesk Light"/>
                  <a:sym typeface="HK Grotesk Light"/>
                </a:rPr>
                <a:t>Infinite loops without delays can lead to resource exhaustion, overwhelming the server. Always ensure that background tasks include appropriate wait times to prevent this issue.</a:t>
              </a:r>
            </a:p>
          </p:txBody>
        </p:sp>
      </p:grpSp>
      <p:grpSp>
        <p:nvGrpSpPr>
          <p:cNvPr id="9" name="Group 9"/>
          <p:cNvGrpSpPr/>
          <p:nvPr/>
        </p:nvGrpSpPr>
        <p:grpSpPr>
          <a:xfrm>
            <a:off x="6419850" y="5143500"/>
            <a:ext cx="5448300" cy="3659505"/>
            <a:chOff x="0" y="0"/>
            <a:chExt cx="7264400" cy="4879340"/>
          </a:xfrm>
        </p:grpSpPr>
        <p:sp>
          <p:nvSpPr>
            <p:cNvPr id="10" name="TextBox 10"/>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solidFill>
                    <a:srgbClr val="D0D0D0"/>
                  </a:solidFill>
                  <a:latin typeface="HK Grotesk Bold"/>
                  <a:ea typeface="HK Grotesk Bold"/>
                  <a:cs typeface="HK Grotesk Bold"/>
                  <a:sym typeface="HK Grotesk Bold"/>
                </a:rPr>
                <a:t>Blocking Calls</a:t>
              </a:r>
            </a:p>
          </p:txBody>
        </p:sp>
        <p:sp>
          <p:nvSpPr>
            <p:cNvPr id="11" name="TextBox 11"/>
            <p:cNvSpPr txBox="1"/>
            <p:nvPr/>
          </p:nvSpPr>
          <p:spPr>
            <a:xfrm>
              <a:off x="0" y="1155700"/>
              <a:ext cx="7264400" cy="3723640"/>
            </a:xfrm>
            <a:prstGeom prst="rect">
              <a:avLst/>
            </a:prstGeom>
          </p:spPr>
          <p:txBody>
            <a:bodyPr lIns="0" tIns="0" rIns="0" bIns="0" rtlCol="0" anchor="t">
              <a:spAutoFit/>
            </a:bodyPr>
            <a:lstStyle/>
            <a:p>
              <a:pPr marL="0" lvl="0" indent="0" algn="l">
                <a:lnSpc>
                  <a:spcPts val="3705"/>
                </a:lnSpc>
              </a:pPr>
              <a:r>
                <a:rPr lang="en-US" sz="2850" u="none" strike="noStrike">
                  <a:solidFill>
                    <a:srgbClr val="A8A8A8"/>
                  </a:solidFill>
                  <a:latin typeface="HK Grotesk Light"/>
                  <a:ea typeface="HK Grotesk Light"/>
                  <a:cs typeface="HK Grotesk Light"/>
                  <a:sym typeface="HK Grotesk Light"/>
                </a:rPr>
                <a:t>Using blocking calls like Thread.Sleep can halt the entire thread, causing performance degradation. Opt for asynchronous programming patterns to keep your application responsive.</a:t>
              </a:r>
            </a:p>
          </p:txBody>
        </p:sp>
      </p:grpSp>
      <p:grpSp>
        <p:nvGrpSpPr>
          <p:cNvPr id="12" name="Group 12"/>
          <p:cNvGrpSpPr/>
          <p:nvPr/>
        </p:nvGrpSpPr>
        <p:grpSpPr>
          <a:xfrm>
            <a:off x="12172950" y="5143500"/>
            <a:ext cx="5448300" cy="3659505"/>
            <a:chOff x="0" y="0"/>
            <a:chExt cx="7264400" cy="4879340"/>
          </a:xfrm>
        </p:grpSpPr>
        <p:sp>
          <p:nvSpPr>
            <p:cNvPr id="13" name="TextBox 13"/>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solidFill>
                    <a:srgbClr val="D0D0D0"/>
                  </a:solidFill>
                  <a:latin typeface="HK Grotesk Bold"/>
                  <a:ea typeface="HK Grotesk Bold"/>
                  <a:cs typeface="HK Grotesk Bold"/>
                  <a:sym typeface="HK Grotesk Bold"/>
                </a:rPr>
                <a:t>Swallowing Exceptions</a:t>
              </a:r>
            </a:p>
          </p:txBody>
        </p:sp>
        <p:sp>
          <p:nvSpPr>
            <p:cNvPr id="14" name="TextBox 14"/>
            <p:cNvSpPr txBox="1"/>
            <p:nvPr/>
          </p:nvSpPr>
          <p:spPr>
            <a:xfrm>
              <a:off x="0" y="1155700"/>
              <a:ext cx="7264400" cy="3723640"/>
            </a:xfrm>
            <a:prstGeom prst="rect">
              <a:avLst/>
            </a:prstGeom>
          </p:spPr>
          <p:txBody>
            <a:bodyPr lIns="0" tIns="0" rIns="0" bIns="0" rtlCol="0" anchor="t">
              <a:spAutoFit/>
            </a:bodyPr>
            <a:lstStyle/>
            <a:p>
              <a:pPr marL="0" lvl="0" indent="0" algn="l">
                <a:lnSpc>
                  <a:spcPts val="3705"/>
                </a:lnSpc>
              </a:pPr>
              <a:r>
                <a:rPr lang="en-US" sz="2850" u="none" strike="noStrike">
                  <a:solidFill>
                    <a:srgbClr val="A8A8A8"/>
                  </a:solidFill>
                  <a:latin typeface="HK Grotesk Light"/>
                  <a:ea typeface="HK Grotesk Light"/>
                  <a:cs typeface="HK Grotesk Light"/>
                  <a:sym typeface="HK Grotesk Light"/>
                </a:rPr>
                <a:t>Swallowing exceptions without logging or handling them can lead to undetected failures. Always implement proper error handling to maintain the integrity and reliability of your application.</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sp>
        <p:nvSpPr>
          <p:cNvPr id="2" name="Freeform 2"/>
          <p:cNvSpPr/>
          <p:nvPr/>
        </p:nvSpPr>
        <p:spPr>
          <a:xfrm rot="4437773">
            <a:off x="13770320" y="-6241286"/>
            <a:ext cx="12640239" cy="11904807"/>
          </a:xfrm>
          <a:custGeom>
            <a:avLst/>
            <a:gdLst/>
            <a:ahLst/>
            <a:cxnLst/>
            <a:rect l="l" t="t" r="r" b="b"/>
            <a:pathLst>
              <a:path w="12640239" h="11904807">
                <a:moveTo>
                  <a:pt x="0" y="0"/>
                </a:moveTo>
                <a:lnTo>
                  <a:pt x="12640239" y="0"/>
                </a:lnTo>
                <a:lnTo>
                  <a:pt x="12640239" y="11904806"/>
                </a:lnTo>
                <a:lnTo>
                  <a:pt x="0" y="1190480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grpSp>
        <p:nvGrpSpPr>
          <p:cNvPr id="3" name="Group 3"/>
          <p:cNvGrpSpPr/>
          <p:nvPr/>
        </p:nvGrpSpPr>
        <p:grpSpPr>
          <a:xfrm>
            <a:off x="666750" y="666750"/>
            <a:ext cx="14077950" cy="2062247"/>
            <a:chOff x="0" y="0"/>
            <a:chExt cx="18770600" cy="2749662"/>
          </a:xfrm>
        </p:grpSpPr>
        <p:sp>
          <p:nvSpPr>
            <p:cNvPr id="4" name="TextBox 4"/>
            <p:cNvSpPr txBox="1"/>
            <p:nvPr/>
          </p:nvSpPr>
          <p:spPr>
            <a:xfrm>
              <a:off x="0" y="171450"/>
              <a:ext cx="18770600" cy="1612476"/>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Scheduling Patterns</a:t>
              </a:r>
            </a:p>
          </p:txBody>
        </p:sp>
        <p:sp>
          <p:nvSpPr>
            <p:cNvPr id="5" name="TextBox 5"/>
            <p:cNvSpPr txBox="1"/>
            <p:nvPr/>
          </p:nvSpPr>
          <p:spPr>
            <a:xfrm>
              <a:off x="0" y="2130537"/>
              <a:ext cx="18770600" cy="6191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Best practices for timed execution</a:t>
              </a:r>
            </a:p>
          </p:txBody>
        </p:sp>
      </p:grpSp>
      <p:grpSp>
        <p:nvGrpSpPr>
          <p:cNvPr id="6" name="Group 6"/>
          <p:cNvGrpSpPr/>
          <p:nvPr/>
        </p:nvGrpSpPr>
        <p:grpSpPr>
          <a:xfrm>
            <a:off x="666750" y="5143500"/>
            <a:ext cx="5448300" cy="3239452"/>
            <a:chOff x="0" y="0"/>
            <a:chExt cx="7264400" cy="4319270"/>
          </a:xfrm>
        </p:grpSpPr>
        <p:sp>
          <p:nvSpPr>
            <p:cNvPr id="7" name="TextBox 7"/>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Prefer PeriodicTimer</a:t>
              </a:r>
            </a:p>
          </p:txBody>
        </p:sp>
        <p:sp>
          <p:nvSpPr>
            <p:cNvPr id="8" name="TextBox 8"/>
            <p:cNvSpPr txBox="1"/>
            <p:nvPr/>
          </p:nvSpPr>
          <p:spPr>
            <a:xfrm>
              <a:off x="0" y="1155700"/>
              <a:ext cx="7264400" cy="3163570"/>
            </a:xfrm>
            <a:prstGeom prst="rect">
              <a:avLst/>
            </a:prstGeom>
          </p:spPr>
          <p:txBody>
            <a:bodyPr lIns="0" tIns="0" rIns="0" bIns="0" rtlCol="0" anchor="t">
              <a:spAutoFit/>
            </a:bodyPr>
            <a:lstStyle/>
            <a:p>
              <a:pPr marL="0" lvl="0" indent="0" algn="l">
                <a:lnSpc>
                  <a:spcPts val="3802"/>
                </a:lnSpc>
              </a:pPr>
              <a:r>
                <a:rPr lang="en-US" sz="2925" u="none" strike="noStrike">
                  <a:solidFill>
                    <a:srgbClr val="A8A8A8"/>
                  </a:solidFill>
                  <a:latin typeface="HK Grotesk Light"/>
                  <a:ea typeface="HK Grotesk Light"/>
                  <a:cs typeface="HK Grotesk Light"/>
                  <a:sym typeface="HK Grotesk Light"/>
                </a:rPr>
                <a:t>Using </a:t>
              </a:r>
              <a:r>
                <a:rPr lang="en-US" sz="2925" b="1" u="none" strike="noStrike">
                  <a:solidFill>
                    <a:srgbClr val="A8A8A8"/>
                  </a:solidFill>
                  <a:latin typeface="HK Grotesk Bold"/>
                  <a:ea typeface="HK Grotesk Bold"/>
                  <a:cs typeface="HK Grotesk Bold"/>
                  <a:sym typeface="HK Grotesk Bold"/>
                </a:rPr>
                <a:t>PeriodicTimer</a:t>
              </a:r>
              <a:r>
                <a:rPr lang="en-US" sz="2925" u="none" strike="noStrike">
                  <a:solidFill>
                    <a:srgbClr val="A8A8A8"/>
                  </a:solidFill>
                  <a:latin typeface="HK Grotesk Light"/>
                  <a:ea typeface="HK Grotesk Light"/>
                  <a:cs typeface="HK Grotesk Light"/>
                  <a:sym typeface="HK Grotesk Light"/>
                </a:rPr>
                <a:t> is more efficient than Task.Delay because it provides precise timing and reduces the risk of drift in scheduled executions.</a:t>
              </a:r>
            </a:p>
          </p:txBody>
        </p:sp>
      </p:grpSp>
      <p:grpSp>
        <p:nvGrpSpPr>
          <p:cNvPr id="9" name="Group 9"/>
          <p:cNvGrpSpPr/>
          <p:nvPr/>
        </p:nvGrpSpPr>
        <p:grpSpPr>
          <a:xfrm>
            <a:off x="6419850" y="5143500"/>
            <a:ext cx="5448300" cy="3715703"/>
            <a:chOff x="0" y="0"/>
            <a:chExt cx="7264400" cy="4954270"/>
          </a:xfrm>
        </p:grpSpPr>
        <p:sp>
          <p:nvSpPr>
            <p:cNvPr id="10" name="TextBox 10"/>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solidFill>
                    <a:srgbClr val="D0D0D0"/>
                  </a:solidFill>
                  <a:latin typeface="HK Grotesk Bold"/>
                  <a:ea typeface="HK Grotesk Bold"/>
                  <a:cs typeface="HK Grotesk Bold"/>
                  <a:sym typeface="HK Grotesk Bold"/>
                </a:rPr>
                <a:t>Configuration-Driven Timing</a:t>
              </a:r>
            </a:p>
          </p:txBody>
        </p:sp>
        <p:sp>
          <p:nvSpPr>
            <p:cNvPr id="11" name="TextBox 11"/>
            <p:cNvSpPr txBox="1"/>
            <p:nvPr/>
          </p:nvSpPr>
          <p:spPr>
            <a:xfrm>
              <a:off x="0" y="1155700"/>
              <a:ext cx="7264400" cy="3798570"/>
            </a:xfrm>
            <a:prstGeom prst="rect">
              <a:avLst/>
            </a:prstGeom>
          </p:spPr>
          <p:txBody>
            <a:bodyPr lIns="0" tIns="0" rIns="0" bIns="0" rtlCol="0" anchor="t">
              <a:spAutoFit/>
            </a:bodyPr>
            <a:lstStyle/>
            <a:p>
              <a:pPr marL="0" lvl="0" indent="0" algn="l">
                <a:lnSpc>
                  <a:spcPts val="3802"/>
                </a:lnSpc>
              </a:pPr>
              <a:r>
                <a:rPr lang="en-US" sz="2925" u="none" strike="noStrike">
                  <a:solidFill>
                    <a:srgbClr val="A8A8A8"/>
                  </a:solidFill>
                  <a:latin typeface="HK Grotesk Light"/>
                  <a:ea typeface="HK Grotesk Light"/>
                  <a:cs typeface="HK Grotesk Light"/>
                  <a:sym typeface="HK Grotesk Light"/>
                </a:rPr>
                <a:t>Timing should be configurable to allow for easy adjustments without code changes, ensuring </a:t>
              </a:r>
              <a:r>
                <a:rPr lang="en-US" sz="2925" b="1" u="none" strike="noStrike">
                  <a:solidFill>
                    <a:srgbClr val="A8A8A8"/>
                  </a:solidFill>
                  <a:latin typeface="HK Grotesk Bold"/>
                  <a:ea typeface="HK Grotesk Bold"/>
                  <a:cs typeface="HK Grotesk Bold"/>
                  <a:sym typeface="HK Grotesk Bold"/>
                </a:rPr>
                <a:t>flexibility</a:t>
              </a:r>
              <a:r>
                <a:rPr lang="en-US" sz="2925" u="none" strike="noStrike">
                  <a:solidFill>
                    <a:srgbClr val="A8A8A8"/>
                  </a:solidFill>
                  <a:latin typeface="HK Grotesk Light"/>
                  <a:ea typeface="HK Grotesk Light"/>
                  <a:cs typeface="HK Grotesk Light"/>
                  <a:sym typeface="HK Grotesk Light"/>
                </a:rPr>
                <a:t> and adaptability to different requirements and environments.</a:t>
              </a:r>
            </a:p>
          </p:txBody>
        </p:sp>
      </p:grpSp>
      <p:grpSp>
        <p:nvGrpSpPr>
          <p:cNvPr id="12" name="Group 12"/>
          <p:cNvGrpSpPr/>
          <p:nvPr/>
        </p:nvGrpSpPr>
        <p:grpSpPr>
          <a:xfrm>
            <a:off x="12172950" y="5143500"/>
            <a:ext cx="5448300" cy="3715703"/>
            <a:chOff x="0" y="0"/>
            <a:chExt cx="7264400" cy="4954270"/>
          </a:xfrm>
        </p:grpSpPr>
        <p:sp>
          <p:nvSpPr>
            <p:cNvPr id="13" name="TextBox 13"/>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solidFill>
                    <a:srgbClr val="D0D0D0"/>
                  </a:solidFill>
                  <a:latin typeface="HK Grotesk Bold"/>
                  <a:ea typeface="HK Grotesk Bold"/>
                  <a:cs typeface="HK Grotesk Bold"/>
                  <a:sym typeface="HK Grotesk Bold"/>
                </a:rPr>
                <a:t>Avoid Cron Engines</a:t>
              </a:r>
            </a:p>
          </p:txBody>
        </p:sp>
        <p:sp>
          <p:nvSpPr>
            <p:cNvPr id="14" name="TextBox 14"/>
            <p:cNvSpPr txBox="1"/>
            <p:nvPr/>
          </p:nvSpPr>
          <p:spPr>
            <a:xfrm>
              <a:off x="0" y="1155700"/>
              <a:ext cx="7264400" cy="3798570"/>
            </a:xfrm>
            <a:prstGeom prst="rect">
              <a:avLst/>
            </a:prstGeom>
          </p:spPr>
          <p:txBody>
            <a:bodyPr lIns="0" tIns="0" rIns="0" bIns="0" rtlCol="0" anchor="t">
              <a:spAutoFit/>
            </a:bodyPr>
            <a:lstStyle/>
            <a:p>
              <a:pPr marL="0" lvl="0" indent="0" algn="l">
                <a:lnSpc>
                  <a:spcPts val="3802"/>
                </a:lnSpc>
              </a:pPr>
              <a:r>
                <a:rPr lang="en-US" sz="2925" u="none" strike="noStrike">
                  <a:solidFill>
                    <a:srgbClr val="A8A8A8"/>
                  </a:solidFill>
                  <a:latin typeface="HK Grotesk Light"/>
                  <a:ea typeface="HK Grotesk Light"/>
                  <a:cs typeface="HK Grotesk Light"/>
                  <a:sym typeface="HK Grotesk Light"/>
                </a:rPr>
                <a:t>Building cron-like scheduling directly in services can complicate logic. Instead, use dedicated external schedulers for better management and maintainability of scheduled tasks.</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sp>
        <p:nvSpPr>
          <p:cNvPr id="2" name="Freeform 2"/>
          <p:cNvSpPr/>
          <p:nvPr/>
        </p:nvSpPr>
        <p:spPr>
          <a:xfrm rot="4437773">
            <a:off x="13770320" y="-6241286"/>
            <a:ext cx="12640239" cy="11904807"/>
          </a:xfrm>
          <a:custGeom>
            <a:avLst/>
            <a:gdLst/>
            <a:ahLst/>
            <a:cxnLst/>
            <a:rect l="l" t="t" r="r" b="b"/>
            <a:pathLst>
              <a:path w="12640239" h="11904807">
                <a:moveTo>
                  <a:pt x="0" y="0"/>
                </a:moveTo>
                <a:lnTo>
                  <a:pt x="12640239" y="0"/>
                </a:lnTo>
                <a:lnTo>
                  <a:pt x="12640239" y="11904806"/>
                </a:lnTo>
                <a:lnTo>
                  <a:pt x="0" y="1190480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grpSp>
        <p:nvGrpSpPr>
          <p:cNvPr id="3" name="Group 3"/>
          <p:cNvGrpSpPr/>
          <p:nvPr/>
        </p:nvGrpSpPr>
        <p:grpSpPr>
          <a:xfrm>
            <a:off x="666750" y="666750"/>
            <a:ext cx="14077950" cy="2062247"/>
            <a:chOff x="0" y="0"/>
            <a:chExt cx="18770600" cy="2749662"/>
          </a:xfrm>
        </p:grpSpPr>
        <p:sp>
          <p:nvSpPr>
            <p:cNvPr id="4" name="TextBox 4"/>
            <p:cNvSpPr txBox="1"/>
            <p:nvPr/>
          </p:nvSpPr>
          <p:spPr>
            <a:xfrm>
              <a:off x="0" y="171450"/>
              <a:ext cx="18770600" cy="1612476"/>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Error Handling</a:t>
              </a:r>
            </a:p>
          </p:txBody>
        </p:sp>
        <p:sp>
          <p:nvSpPr>
            <p:cNvPr id="5" name="TextBox 5"/>
            <p:cNvSpPr txBox="1"/>
            <p:nvPr/>
          </p:nvSpPr>
          <p:spPr>
            <a:xfrm>
              <a:off x="0" y="2130537"/>
              <a:ext cx="18770600" cy="6191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Ensuring resilience in hosted services</a:t>
              </a:r>
            </a:p>
          </p:txBody>
        </p:sp>
      </p:grpSp>
      <p:grpSp>
        <p:nvGrpSpPr>
          <p:cNvPr id="6" name="Group 6"/>
          <p:cNvGrpSpPr/>
          <p:nvPr/>
        </p:nvGrpSpPr>
        <p:grpSpPr>
          <a:xfrm>
            <a:off x="666750" y="5143500"/>
            <a:ext cx="5448300" cy="3602831"/>
            <a:chOff x="0" y="0"/>
            <a:chExt cx="7264400" cy="4803775"/>
          </a:xfrm>
        </p:grpSpPr>
        <p:sp>
          <p:nvSpPr>
            <p:cNvPr id="7" name="TextBox 7"/>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Log Failures</a:t>
              </a:r>
            </a:p>
          </p:txBody>
        </p:sp>
        <p:sp>
          <p:nvSpPr>
            <p:cNvPr id="8" name="TextBox 8"/>
            <p:cNvSpPr txBox="1"/>
            <p:nvPr/>
          </p:nvSpPr>
          <p:spPr>
            <a:xfrm>
              <a:off x="0" y="1165225"/>
              <a:ext cx="7264400" cy="3638550"/>
            </a:xfrm>
            <a:prstGeom prst="rect">
              <a:avLst/>
            </a:prstGeom>
          </p:spPr>
          <p:txBody>
            <a:bodyPr lIns="0" tIns="0" rIns="0" bIns="0" rtlCol="0" anchor="t">
              <a:spAutoFit/>
            </a:bodyPr>
            <a:lstStyle/>
            <a:p>
              <a:pPr marL="0" lvl="0" indent="0" algn="l">
                <a:lnSpc>
                  <a:spcPts val="3656"/>
                </a:lnSpc>
              </a:pPr>
              <a:r>
                <a:rPr lang="en-US" sz="2812" u="none" strike="noStrike">
                  <a:solidFill>
                    <a:srgbClr val="A8A8A8"/>
                  </a:solidFill>
                  <a:latin typeface="HK Grotesk Light"/>
                  <a:ea typeface="HK Grotesk Light"/>
                  <a:cs typeface="HK Grotesk Light"/>
                  <a:sym typeface="HK Grotesk Light"/>
                </a:rPr>
                <a:t>Always log failures to maintain visibility and facilitate debugging. Proper logging can help identify issues and improve the reliability of your background services over time.</a:t>
              </a:r>
            </a:p>
          </p:txBody>
        </p:sp>
      </p:grpSp>
      <p:grpSp>
        <p:nvGrpSpPr>
          <p:cNvPr id="9" name="Group 9"/>
          <p:cNvGrpSpPr/>
          <p:nvPr/>
        </p:nvGrpSpPr>
        <p:grpSpPr>
          <a:xfrm>
            <a:off x="6419850" y="5143500"/>
            <a:ext cx="5448300" cy="4060031"/>
            <a:chOff x="0" y="0"/>
            <a:chExt cx="7264400" cy="5413375"/>
          </a:xfrm>
        </p:grpSpPr>
        <p:sp>
          <p:nvSpPr>
            <p:cNvPr id="10" name="TextBox 10"/>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solidFill>
                    <a:srgbClr val="D0D0D0"/>
                  </a:solidFill>
                  <a:latin typeface="HK Grotesk Bold"/>
                  <a:ea typeface="HK Grotesk Bold"/>
                  <a:cs typeface="HK Grotesk Bold"/>
                  <a:sym typeface="HK Grotesk Bold"/>
                </a:rPr>
                <a:t>Transient Faults</a:t>
              </a:r>
            </a:p>
          </p:txBody>
        </p:sp>
        <p:sp>
          <p:nvSpPr>
            <p:cNvPr id="11" name="TextBox 11"/>
            <p:cNvSpPr txBox="1"/>
            <p:nvPr/>
          </p:nvSpPr>
          <p:spPr>
            <a:xfrm>
              <a:off x="0" y="1165225"/>
              <a:ext cx="7264400" cy="4248150"/>
            </a:xfrm>
            <a:prstGeom prst="rect">
              <a:avLst/>
            </a:prstGeom>
          </p:spPr>
          <p:txBody>
            <a:bodyPr lIns="0" tIns="0" rIns="0" bIns="0" rtlCol="0" anchor="t">
              <a:spAutoFit/>
            </a:bodyPr>
            <a:lstStyle/>
            <a:p>
              <a:pPr marL="0" lvl="0" indent="0" algn="l">
                <a:lnSpc>
                  <a:spcPts val="3656"/>
                </a:lnSpc>
              </a:pPr>
              <a:r>
                <a:rPr lang="en-US" sz="2812" u="none" strike="noStrike">
                  <a:solidFill>
                    <a:srgbClr val="A8A8A8"/>
                  </a:solidFill>
                  <a:latin typeface="HK Grotesk Light"/>
                  <a:ea typeface="HK Grotesk Light"/>
                  <a:cs typeface="HK Grotesk Light"/>
                  <a:sym typeface="HK Grotesk Light"/>
                </a:rPr>
                <a:t>Handle transient faults by implementing retries and backoff strategies. This approach minimizes disruptions and enhances the stability of applications, especially in fluctuating network conditions.</a:t>
              </a:r>
            </a:p>
          </p:txBody>
        </p:sp>
      </p:grpSp>
      <p:grpSp>
        <p:nvGrpSpPr>
          <p:cNvPr id="12" name="Group 12"/>
          <p:cNvGrpSpPr/>
          <p:nvPr/>
        </p:nvGrpSpPr>
        <p:grpSpPr>
          <a:xfrm>
            <a:off x="12172950" y="5143500"/>
            <a:ext cx="5448300" cy="3602831"/>
            <a:chOff x="0" y="0"/>
            <a:chExt cx="7264400" cy="4803775"/>
          </a:xfrm>
        </p:grpSpPr>
        <p:sp>
          <p:nvSpPr>
            <p:cNvPr id="13" name="TextBox 13"/>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solidFill>
                    <a:srgbClr val="D0D0D0"/>
                  </a:solidFill>
                  <a:latin typeface="HK Grotesk Bold"/>
                  <a:ea typeface="HK Grotesk Bold"/>
                  <a:cs typeface="HK Grotesk Bold"/>
                  <a:sym typeface="HK Grotesk Bold"/>
                </a:rPr>
                <a:t>Use Polly</a:t>
              </a:r>
            </a:p>
          </p:txBody>
        </p:sp>
        <p:sp>
          <p:nvSpPr>
            <p:cNvPr id="14" name="TextBox 14"/>
            <p:cNvSpPr txBox="1"/>
            <p:nvPr/>
          </p:nvSpPr>
          <p:spPr>
            <a:xfrm>
              <a:off x="0" y="1165225"/>
              <a:ext cx="7264400" cy="3638550"/>
            </a:xfrm>
            <a:prstGeom prst="rect">
              <a:avLst/>
            </a:prstGeom>
          </p:spPr>
          <p:txBody>
            <a:bodyPr lIns="0" tIns="0" rIns="0" bIns="0" rtlCol="0" anchor="t">
              <a:spAutoFit/>
            </a:bodyPr>
            <a:lstStyle/>
            <a:p>
              <a:pPr marL="0" lvl="0" indent="0" algn="l">
                <a:lnSpc>
                  <a:spcPts val="3656"/>
                </a:lnSpc>
              </a:pPr>
              <a:r>
                <a:rPr lang="en-US" sz="2812" u="none" strike="noStrike">
                  <a:solidFill>
                    <a:srgbClr val="A8A8A8"/>
                  </a:solidFill>
                  <a:latin typeface="HK Grotesk Light"/>
                  <a:ea typeface="HK Grotesk Light"/>
                  <a:cs typeface="HK Grotesk Light"/>
                  <a:sym typeface="HK Grotesk Light"/>
                </a:rPr>
                <a:t>Utilize Polly for resilience policies, allowing you to define complex retry logic and circuit breaker patterns. This library helps in managing fault tolerance effectively in your applications.</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sp>
        <p:nvSpPr>
          <p:cNvPr id="2" name="Freeform 2"/>
          <p:cNvSpPr/>
          <p:nvPr/>
        </p:nvSpPr>
        <p:spPr>
          <a:xfrm rot="4437773">
            <a:off x="13770320" y="-6241286"/>
            <a:ext cx="12640239" cy="11904807"/>
          </a:xfrm>
          <a:custGeom>
            <a:avLst/>
            <a:gdLst/>
            <a:ahLst/>
            <a:cxnLst/>
            <a:rect l="l" t="t" r="r" b="b"/>
            <a:pathLst>
              <a:path w="12640239" h="11904807">
                <a:moveTo>
                  <a:pt x="0" y="0"/>
                </a:moveTo>
                <a:lnTo>
                  <a:pt x="12640239" y="0"/>
                </a:lnTo>
                <a:lnTo>
                  <a:pt x="12640239" y="11904806"/>
                </a:lnTo>
                <a:lnTo>
                  <a:pt x="0" y="1190480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grpSp>
        <p:nvGrpSpPr>
          <p:cNvPr id="3" name="Group 3"/>
          <p:cNvGrpSpPr/>
          <p:nvPr/>
        </p:nvGrpSpPr>
        <p:grpSpPr>
          <a:xfrm>
            <a:off x="666750" y="666750"/>
            <a:ext cx="14077950" cy="3176672"/>
            <a:chOff x="0" y="0"/>
            <a:chExt cx="18770600" cy="4235562"/>
          </a:xfrm>
        </p:grpSpPr>
        <p:sp>
          <p:nvSpPr>
            <p:cNvPr id="4" name="TextBox 4"/>
            <p:cNvSpPr txBox="1"/>
            <p:nvPr/>
          </p:nvSpPr>
          <p:spPr>
            <a:xfrm>
              <a:off x="0" y="171450"/>
              <a:ext cx="18770600" cy="3098376"/>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Configuration Management</a:t>
              </a:r>
            </a:p>
          </p:txBody>
        </p:sp>
        <p:sp>
          <p:nvSpPr>
            <p:cNvPr id="5" name="TextBox 5"/>
            <p:cNvSpPr txBox="1"/>
            <p:nvPr/>
          </p:nvSpPr>
          <p:spPr>
            <a:xfrm>
              <a:off x="0" y="3616437"/>
              <a:ext cx="18770600" cy="6191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Best practices for dynamic settings updates</a:t>
              </a:r>
            </a:p>
          </p:txBody>
        </p:sp>
      </p:grpSp>
      <p:grpSp>
        <p:nvGrpSpPr>
          <p:cNvPr id="6" name="Group 6"/>
          <p:cNvGrpSpPr/>
          <p:nvPr/>
        </p:nvGrpSpPr>
        <p:grpSpPr>
          <a:xfrm>
            <a:off x="666750" y="5143500"/>
            <a:ext cx="5448300" cy="3602831"/>
            <a:chOff x="0" y="0"/>
            <a:chExt cx="7264400" cy="4803775"/>
          </a:xfrm>
        </p:grpSpPr>
        <p:sp>
          <p:nvSpPr>
            <p:cNvPr id="7" name="TextBox 7"/>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Externalization</a:t>
              </a:r>
            </a:p>
          </p:txBody>
        </p:sp>
        <p:sp>
          <p:nvSpPr>
            <p:cNvPr id="8" name="TextBox 8"/>
            <p:cNvSpPr txBox="1"/>
            <p:nvPr/>
          </p:nvSpPr>
          <p:spPr>
            <a:xfrm>
              <a:off x="0" y="1165225"/>
              <a:ext cx="7264400" cy="3638550"/>
            </a:xfrm>
            <a:prstGeom prst="rect">
              <a:avLst/>
            </a:prstGeom>
          </p:spPr>
          <p:txBody>
            <a:bodyPr lIns="0" tIns="0" rIns="0" bIns="0" rtlCol="0" anchor="t">
              <a:spAutoFit/>
            </a:bodyPr>
            <a:lstStyle/>
            <a:p>
              <a:pPr marL="0" lvl="0" indent="0" algn="l">
                <a:lnSpc>
                  <a:spcPts val="3656"/>
                </a:lnSpc>
              </a:pPr>
              <a:r>
                <a:rPr lang="en-US" sz="2812" u="none" strike="noStrike">
                  <a:solidFill>
                    <a:srgbClr val="A8A8A8"/>
                  </a:solidFill>
                  <a:latin typeface="HK Grotesk Light"/>
                  <a:ea typeface="HK Grotesk Light"/>
                  <a:cs typeface="HK Grotesk Light"/>
                  <a:sym typeface="HK Grotesk Light"/>
                </a:rPr>
                <a:t>Externalizing intervals and thresholds allows for </a:t>
              </a:r>
              <a:r>
                <a:rPr lang="en-US" sz="2812" b="1" u="none" strike="noStrike">
                  <a:solidFill>
                    <a:srgbClr val="A8A8A8"/>
                  </a:solidFill>
                  <a:latin typeface="HK Grotesk Bold"/>
                  <a:ea typeface="HK Grotesk Bold"/>
                  <a:cs typeface="HK Grotesk Bold"/>
                  <a:sym typeface="HK Grotesk Bold"/>
                </a:rPr>
                <a:t>flexibility</a:t>
              </a:r>
              <a:r>
                <a:rPr lang="en-US" sz="2812" u="none" strike="noStrike">
                  <a:solidFill>
                    <a:srgbClr val="A8A8A8"/>
                  </a:solidFill>
                  <a:latin typeface="HK Grotesk Light"/>
                  <a:ea typeface="HK Grotesk Light"/>
                  <a:cs typeface="HK Grotesk Light"/>
                  <a:sym typeface="HK Grotesk Light"/>
                </a:rPr>
                <a:t> in configuration changes without requiring application redeployment, making it easier to adapt to new requirements.</a:t>
              </a:r>
            </a:p>
          </p:txBody>
        </p:sp>
      </p:grpSp>
      <p:grpSp>
        <p:nvGrpSpPr>
          <p:cNvPr id="9" name="Group 9"/>
          <p:cNvGrpSpPr/>
          <p:nvPr/>
        </p:nvGrpSpPr>
        <p:grpSpPr>
          <a:xfrm>
            <a:off x="6419850" y="5143500"/>
            <a:ext cx="5448300" cy="3602831"/>
            <a:chOff x="0" y="0"/>
            <a:chExt cx="7264400" cy="4803775"/>
          </a:xfrm>
        </p:grpSpPr>
        <p:sp>
          <p:nvSpPr>
            <p:cNvPr id="10" name="TextBox 10"/>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solidFill>
                    <a:srgbClr val="D0D0D0"/>
                  </a:solidFill>
                  <a:latin typeface="HK Grotesk Bold"/>
                  <a:ea typeface="HK Grotesk Bold"/>
                  <a:cs typeface="HK Grotesk Bold"/>
                  <a:sym typeface="HK Grotesk Bold"/>
                </a:rPr>
                <a:t>Live Updates</a:t>
              </a:r>
            </a:p>
          </p:txBody>
        </p:sp>
        <p:sp>
          <p:nvSpPr>
            <p:cNvPr id="11" name="TextBox 11"/>
            <p:cNvSpPr txBox="1"/>
            <p:nvPr/>
          </p:nvSpPr>
          <p:spPr>
            <a:xfrm>
              <a:off x="0" y="1165225"/>
              <a:ext cx="7264400" cy="3638550"/>
            </a:xfrm>
            <a:prstGeom prst="rect">
              <a:avLst/>
            </a:prstGeom>
          </p:spPr>
          <p:txBody>
            <a:bodyPr lIns="0" tIns="0" rIns="0" bIns="0" rtlCol="0" anchor="t">
              <a:spAutoFit/>
            </a:bodyPr>
            <a:lstStyle/>
            <a:p>
              <a:pPr marL="0" lvl="0" indent="0" algn="l">
                <a:lnSpc>
                  <a:spcPts val="3656"/>
                </a:lnSpc>
              </a:pPr>
              <a:r>
                <a:rPr lang="en-US" sz="2812" u="none" strike="noStrike">
                  <a:solidFill>
                    <a:srgbClr val="A8A8A8"/>
                  </a:solidFill>
                  <a:latin typeface="HK Grotesk Light"/>
                  <a:ea typeface="HK Grotesk Light"/>
                  <a:cs typeface="HK Grotesk Light"/>
                  <a:sym typeface="HK Grotesk Light"/>
                </a:rPr>
                <a:t>Utilizing IOptionsMonitor facilitates </a:t>
              </a:r>
              <a:r>
                <a:rPr lang="en-US" sz="2812" b="1" u="none" strike="noStrike">
                  <a:solidFill>
                    <a:srgbClr val="A8A8A8"/>
                  </a:solidFill>
                  <a:latin typeface="HK Grotesk Bold"/>
                  <a:ea typeface="HK Grotesk Bold"/>
                  <a:cs typeface="HK Grotesk Bold"/>
                  <a:sym typeface="HK Grotesk Bold"/>
                </a:rPr>
                <a:t>real-time updates</a:t>
              </a:r>
              <a:r>
                <a:rPr lang="en-US" sz="2812" u="none" strike="noStrike">
                  <a:solidFill>
                    <a:srgbClr val="A8A8A8"/>
                  </a:solidFill>
                  <a:latin typeface="HK Grotesk Light"/>
                  <a:ea typeface="HK Grotesk Light"/>
                  <a:cs typeface="HK Grotesk Light"/>
                  <a:sym typeface="HK Grotesk Light"/>
                </a:rPr>
                <a:t> of configuration settings, ensuring that changes can take effect immediately without restarting the application or affecting ongoing processes.</a:t>
              </a:r>
            </a:p>
          </p:txBody>
        </p:sp>
      </p:grpSp>
      <p:grpSp>
        <p:nvGrpSpPr>
          <p:cNvPr id="12" name="Group 12"/>
          <p:cNvGrpSpPr/>
          <p:nvPr/>
        </p:nvGrpSpPr>
        <p:grpSpPr>
          <a:xfrm>
            <a:off x="12172950" y="5143500"/>
            <a:ext cx="5448300" cy="3602831"/>
            <a:chOff x="0" y="0"/>
            <a:chExt cx="7264400" cy="4803775"/>
          </a:xfrm>
        </p:grpSpPr>
        <p:sp>
          <p:nvSpPr>
            <p:cNvPr id="13" name="TextBox 13"/>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solidFill>
                    <a:srgbClr val="D0D0D0"/>
                  </a:solidFill>
                  <a:latin typeface="HK Grotesk Bold"/>
                  <a:ea typeface="HK Grotesk Bold"/>
                  <a:cs typeface="HK Grotesk Bold"/>
                  <a:sym typeface="HK Grotesk Bold"/>
                </a:rPr>
                <a:t>Worker Management</a:t>
              </a:r>
            </a:p>
          </p:txBody>
        </p:sp>
        <p:sp>
          <p:nvSpPr>
            <p:cNvPr id="14" name="TextBox 14"/>
            <p:cNvSpPr txBox="1"/>
            <p:nvPr/>
          </p:nvSpPr>
          <p:spPr>
            <a:xfrm>
              <a:off x="0" y="1165225"/>
              <a:ext cx="7264400" cy="3638550"/>
            </a:xfrm>
            <a:prstGeom prst="rect">
              <a:avLst/>
            </a:prstGeom>
          </p:spPr>
          <p:txBody>
            <a:bodyPr lIns="0" tIns="0" rIns="0" bIns="0" rtlCol="0" anchor="t">
              <a:spAutoFit/>
            </a:bodyPr>
            <a:lstStyle/>
            <a:p>
              <a:pPr marL="0" lvl="0" indent="0" algn="l">
                <a:lnSpc>
                  <a:spcPts val="3656"/>
                </a:lnSpc>
              </a:pPr>
              <a:r>
                <a:rPr lang="en-US" sz="2812" u="none" strike="noStrike">
                  <a:solidFill>
                    <a:srgbClr val="A8A8A8"/>
                  </a:solidFill>
                  <a:latin typeface="HK Grotesk Light"/>
                  <a:ea typeface="HK Grotesk Light"/>
                  <a:cs typeface="HK Grotesk Light"/>
                  <a:sym typeface="HK Grotesk Light"/>
                </a:rPr>
                <a:t>Enabling or disabling workers dynamically enhances </a:t>
              </a:r>
              <a:r>
                <a:rPr lang="en-US" sz="2812" b="1" u="none" strike="noStrike">
                  <a:solidFill>
                    <a:srgbClr val="A8A8A8"/>
                  </a:solidFill>
                  <a:latin typeface="HK Grotesk Bold"/>
                  <a:ea typeface="HK Grotesk Bold"/>
                  <a:cs typeface="HK Grotesk Bold"/>
                  <a:sym typeface="HK Grotesk Bold"/>
                </a:rPr>
                <a:t>operational safety</a:t>
              </a:r>
              <a:r>
                <a:rPr lang="en-US" sz="2812" u="none" strike="noStrike">
                  <a:solidFill>
                    <a:srgbClr val="A8A8A8"/>
                  </a:solidFill>
                  <a:latin typeface="HK Grotesk Light"/>
                  <a:ea typeface="HK Grotesk Light"/>
                  <a:cs typeface="HK Grotesk Light"/>
                  <a:sym typeface="HK Grotesk Light"/>
                </a:rPr>
                <a:t>, allowing teams to respond quickly to changing conditions and ensuring minimal disruption to service continuity.</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sp>
        <p:nvSpPr>
          <p:cNvPr id="2" name="Freeform 2"/>
          <p:cNvSpPr/>
          <p:nvPr/>
        </p:nvSpPr>
        <p:spPr>
          <a:xfrm rot="4437773">
            <a:off x="13770320" y="-6241286"/>
            <a:ext cx="12640239" cy="11904807"/>
          </a:xfrm>
          <a:custGeom>
            <a:avLst/>
            <a:gdLst/>
            <a:ahLst/>
            <a:cxnLst/>
            <a:rect l="l" t="t" r="r" b="b"/>
            <a:pathLst>
              <a:path w="12640239" h="11904807">
                <a:moveTo>
                  <a:pt x="0" y="0"/>
                </a:moveTo>
                <a:lnTo>
                  <a:pt x="12640239" y="0"/>
                </a:lnTo>
                <a:lnTo>
                  <a:pt x="12640239" y="11904806"/>
                </a:lnTo>
                <a:lnTo>
                  <a:pt x="0" y="1190480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grpSp>
        <p:nvGrpSpPr>
          <p:cNvPr id="3" name="Group 3"/>
          <p:cNvGrpSpPr/>
          <p:nvPr/>
        </p:nvGrpSpPr>
        <p:grpSpPr>
          <a:xfrm>
            <a:off x="666750" y="666750"/>
            <a:ext cx="14077950" cy="2062247"/>
            <a:chOff x="0" y="0"/>
            <a:chExt cx="18770600" cy="2749662"/>
          </a:xfrm>
        </p:grpSpPr>
        <p:sp>
          <p:nvSpPr>
            <p:cNvPr id="4" name="TextBox 4"/>
            <p:cNvSpPr txBox="1"/>
            <p:nvPr/>
          </p:nvSpPr>
          <p:spPr>
            <a:xfrm>
              <a:off x="0" y="171450"/>
              <a:ext cx="18770600" cy="1612476"/>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Scaling Considerations</a:t>
              </a:r>
            </a:p>
          </p:txBody>
        </p:sp>
        <p:sp>
          <p:nvSpPr>
            <p:cNvPr id="5" name="TextBox 5"/>
            <p:cNvSpPr txBox="1"/>
            <p:nvPr/>
          </p:nvSpPr>
          <p:spPr>
            <a:xfrm>
              <a:off x="0" y="2130537"/>
              <a:ext cx="18770600" cy="6191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Managing hosted services in distributed systems</a:t>
              </a:r>
            </a:p>
          </p:txBody>
        </p:sp>
      </p:grpSp>
      <p:grpSp>
        <p:nvGrpSpPr>
          <p:cNvPr id="6" name="Group 6"/>
          <p:cNvGrpSpPr/>
          <p:nvPr/>
        </p:nvGrpSpPr>
        <p:grpSpPr>
          <a:xfrm>
            <a:off x="666750" y="5143500"/>
            <a:ext cx="5448300" cy="3602831"/>
            <a:chOff x="0" y="0"/>
            <a:chExt cx="7264400" cy="4803775"/>
          </a:xfrm>
        </p:grpSpPr>
        <p:sp>
          <p:nvSpPr>
            <p:cNvPr id="7" name="TextBox 7"/>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D0D0D0"/>
                  </a:solidFill>
                  <a:latin typeface="HK Grotesk Bold"/>
                  <a:ea typeface="HK Grotesk Bold"/>
                  <a:cs typeface="HK Grotesk Bold"/>
                  <a:sym typeface="HK Grotesk Bold"/>
                </a:rPr>
                <a:t>Duplicate Execution</a:t>
              </a:r>
            </a:p>
          </p:txBody>
        </p:sp>
        <p:sp>
          <p:nvSpPr>
            <p:cNvPr id="8" name="TextBox 8"/>
            <p:cNvSpPr txBox="1"/>
            <p:nvPr/>
          </p:nvSpPr>
          <p:spPr>
            <a:xfrm>
              <a:off x="0" y="1165225"/>
              <a:ext cx="7264400" cy="3638550"/>
            </a:xfrm>
            <a:prstGeom prst="rect">
              <a:avLst/>
            </a:prstGeom>
          </p:spPr>
          <p:txBody>
            <a:bodyPr lIns="0" tIns="0" rIns="0" bIns="0" rtlCol="0" anchor="t">
              <a:spAutoFit/>
            </a:bodyPr>
            <a:lstStyle/>
            <a:p>
              <a:pPr marL="0" lvl="0" indent="0" algn="l">
                <a:lnSpc>
                  <a:spcPts val="3656"/>
                </a:lnSpc>
              </a:pPr>
              <a:r>
                <a:rPr lang="en-US" sz="2812" u="none" strike="noStrike">
                  <a:solidFill>
                    <a:srgbClr val="A8A8A8"/>
                  </a:solidFill>
                  <a:latin typeface="HK Grotesk Light"/>
                  <a:ea typeface="HK Grotesk Light"/>
                  <a:cs typeface="HK Grotesk Light"/>
                  <a:sym typeface="HK Grotesk Light"/>
                </a:rPr>
                <a:t>Each application instance may run its own hosted services, which can lead to </a:t>
              </a:r>
              <a:r>
                <a:rPr lang="en-US" sz="2812" b="1" u="none" strike="noStrike">
                  <a:solidFill>
                    <a:srgbClr val="A8A8A8"/>
                  </a:solidFill>
                  <a:latin typeface="HK Grotesk Bold"/>
                  <a:ea typeface="HK Grotesk Bold"/>
                  <a:cs typeface="HK Grotesk Bold"/>
                  <a:sym typeface="HK Grotesk Bold"/>
                </a:rPr>
                <a:t>duplicate execution</a:t>
              </a:r>
              <a:r>
                <a:rPr lang="en-US" sz="2812" u="none" strike="noStrike">
                  <a:solidFill>
                    <a:srgbClr val="A8A8A8"/>
                  </a:solidFill>
                  <a:latin typeface="HK Grotesk Light"/>
                  <a:ea typeface="HK Grotesk Light"/>
                  <a:cs typeface="HK Grotesk Light"/>
                  <a:sym typeface="HK Grotesk Light"/>
                </a:rPr>
                <a:t> of tasks if not managed properly, causing inefficiencies and resource wastage.</a:t>
              </a:r>
            </a:p>
          </p:txBody>
        </p:sp>
      </p:grpSp>
      <p:grpSp>
        <p:nvGrpSpPr>
          <p:cNvPr id="9" name="Group 9"/>
          <p:cNvGrpSpPr/>
          <p:nvPr/>
        </p:nvGrpSpPr>
        <p:grpSpPr>
          <a:xfrm>
            <a:off x="6419850" y="5143500"/>
            <a:ext cx="5448300" cy="3602831"/>
            <a:chOff x="0" y="0"/>
            <a:chExt cx="7264400" cy="4803775"/>
          </a:xfrm>
        </p:grpSpPr>
        <p:sp>
          <p:nvSpPr>
            <p:cNvPr id="10" name="TextBox 10"/>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solidFill>
                    <a:srgbClr val="D0D0D0"/>
                  </a:solidFill>
                  <a:latin typeface="HK Grotesk Bold"/>
                  <a:ea typeface="HK Grotesk Bold"/>
                  <a:cs typeface="HK Grotesk Bold"/>
                  <a:sym typeface="HK Grotesk Bold"/>
                </a:rPr>
                <a:t>Distributed Locks</a:t>
              </a:r>
            </a:p>
          </p:txBody>
        </p:sp>
        <p:sp>
          <p:nvSpPr>
            <p:cNvPr id="11" name="TextBox 11"/>
            <p:cNvSpPr txBox="1"/>
            <p:nvPr/>
          </p:nvSpPr>
          <p:spPr>
            <a:xfrm>
              <a:off x="0" y="1165225"/>
              <a:ext cx="7264400" cy="3638550"/>
            </a:xfrm>
            <a:prstGeom prst="rect">
              <a:avLst/>
            </a:prstGeom>
          </p:spPr>
          <p:txBody>
            <a:bodyPr lIns="0" tIns="0" rIns="0" bIns="0" rtlCol="0" anchor="t">
              <a:spAutoFit/>
            </a:bodyPr>
            <a:lstStyle/>
            <a:p>
              <a:pPr marL="0" lvl="0" indent="0" algn="l">
                <a:lnSpc>
                  <a:spcPts val="3656"/>
                </a:lnSpc>
              </a:pPr>
              <a:r>
                <a:rPr lang="en-US" sz="2812" u="none" strike="noStrike">
                  <a:solidFill>
                    <a:srgbClr val="A8A8A8"/>
                  </a:solidFill>
                  <a:latin typeface="HK Grotesk Light"/>
                  <a:ea typeface="HK Grotesk Light"/>
                  <a:cs typeface="HK Grotesk Light"/>
                  <a:sym typeface="HK Grotesk Light"/>
                </a:rPr>
                <a:t>Implementing distributed locks ensures that only one instance of a hosted service executes a specific task at any time, thus preventing conflicts and ensuring data integrity across instances.</a:t>
              </a:r>
            </a:p>
          </p:txBody>
        </p:sp>
      </p:grpSp>
      <p:grpSp>
        <p:nvGrpSpPr>
          <p:cNvPr id="12" name="Group 12"/>
          <p:cNvGrpSpPr/>
          <p:nvPr/>
        </p:nvGrpSpPr>
        <p:grpSpPr>
          <a:xfrm>
            <a:off x="12172950" y="5143500"/>
            <a:ext cx="5448300" cy="4060031"/>
            <a:chOff x="0" y="0"/>
            <a:chExt cx="7264400" cy="5413375"/>
          </a:xfrm>
        </p:grpSpPr>
        <p:sp>
          <p:nvSpPr>
            <p:cNvPr id="13" name="TextBox 13"/>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solidFill>
                    <a:srgbClr val="D0D0D0"/>
                  </a:solidFill>
                  <a:latin typeface="HK Grotesk Bold"/>
                  <a:ea typeface="HK Grotesk Bold"/>
                  <a:cs typeface="HK Grotesk Bold"/>
                  <a:sym typeface="HK Grotesk Bold"/>
                </a:rPr>
                <a:t>Leader Election</a:t>
              </a:r>
            </a:p>
          </p:txBody>
        </p:sp>
        <p:sp>
          <p:nvSpPr>
            <p:cNvPr id="14" name="TextBox 14"/>
            <p:cNvSpPr txBox="1"/>
            <p:nvPr/>
          </p:nvSpPr>
          <p:spPr>
            <a:xfrm>
              <a:off x="0" y="1165225"/>
              <a:ext cx="7264400" cy="4248150"/>
            </a:xfrm>
            <a:prstGeom prst="rect">
              <a:avLst/>
            </a:prstGeom>
          </p:spPr>
          <p:txBody>
            <a:bodyPr lIns="0" tIns="0" rIns="0" bIns="0" rtlCol="0" anchor="t">
              <a:spAutoFit/>
            </a:bodyPr>
            <a:lstStyle/>
            <a:p>
              <a:pPr marL="0" lvl="0" indent="0" algn="l">
                <a:lnSpc>
                  <a:spcPts val="3656"/>
                </a:lnSpc>
              </a:pPr>
              <a:r>
                <a:rPr lang="en-US" sz="2812" u="none" strike="noStrike">
                  <a:solidFill>
                    <a:srgbClr val="A8A8A8"/>
                  </a:solidFill>
                  <a:latin typeface="HK Grotesk Light"/>
                  <a:ea typeface="HK Grotesk Light"/>
                  <a:cs typeface="HK Grotesk Light"/>
                  <a:sym typeface="HK Grotesk Light"/>
                </a:rPr>
                <a:t>Utilizing leader election algorithms allows instances to elect a single leader responsible for executing specific tasks, which helps streamline operations and reduce redundancy in distributed environments.</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sp>
        <p:nvSpPr>
          <p:cNvPr id="2" name="Freeform 2"/>
          <p:cNvSpPr/>
          <p:nvPr/>
        </p:nvSpPr>
        <p:spPr>
          <a:xfrm rot="-1268288">
            <a:off x="14795639" y="5873497"/>
            <a:ext cx="10936025" cy="10299747"/>
          </a:xfrm>
          <a:custGeom>
            <a:avLst/>
            <a:gdLst/>
            <a:ahLst/>
            <a:cxnLst/>
            <a:rect l="l" t="t" r="r" b="b"/>
            <a:pathLst>
              <a:path w="10936025" h="10299747">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3" name="Freeform 3"/>
          <p:cNvSpPr/>
          <p:nvPr/>
        </p:nvSpPr>
        <p:spPr>
          <a:xfrm rot="-1268288">
            <a:off x="-6005389" y="-6781594"/>
            <a:ext cx="10936025" cy="10299747"/>
          </a:xfrm>
          <a:custGeom>
            <a:avLst/>
            <a:gdLst/>
            <a:ahLst/>
            <a:cxnLst/>
            <a:rect l="l" t="t" r="r" b="b"/>
            <a:pathLst>
              <a:path w="10936025" h="10299747">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4" name="TextBox 4"/>
          <p:cNvSpPr txBox="1"/>
          <p:nvPr/>
        </p:nvSpPr>
        <p:spPr>
          <a:xfrm>
            <a:off x="2105025" y="4419600"/>
            <a:ext cx="12639675" cy="1166494"/>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.NET 10 Updates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02085"/>
        </a:solidFill>
        <a:effectLst/>
      </p:bgPr>
    </p:bg>
    <p:spTree>
      <p:nvGrpSpPr>
        <p:cNvPr id="1" name=""/>
        <p:cNvGrpSpPr/>
        <p:nvPr/>
      </p:nvGrpSpPr>
      <p:grpSpPr>
        <a:xfrm>
          <a:off x="0" y="0"/>
          <a:ext cx="0" cy="0"/>
          <a:chOff x="0" y="0"/>
          <a:chExt cx="0" cy="0"/>
        </a:xfrm>
      </p:grpSpPr>
      <p:grpSp>
        <p:nvGrpSpPr>
          <p:cNvPr id="2" name="Group 2"/>
          <p:cNvGrpSpPr/>
          <p:nvPr/>
        </p:nvGrpSpPr>
        <p:grpSpPr>
          <a:xfrm>
            <a:off x="2105025" y="2292628"/>
            <a:ext cx="12639675" cy="5334146"/>
            <a:chOff x="0" y="0"/>
            <a:chExt cx="16852900" cy="7112195"/>
          </a:xfrm>
        </p:grpSpPr>
        <p:sp>
          <p:nvSpPr>
            <p:cNvPr id="3" name="TextBox 3"/>
            <p:cNvSpPr txBox="1"/>
            <p:nvPr/>
          </p:nvSpPr>
          <p:spPr>
            <a:xfrm>
              <a:off x="0" y="171450"/>
              <a:ext cx="16852900" cy="1612476"/>
            </a:xfrm>
            <a:prstGeom prst="rect">
              <a:avLst/>
            </a:prstGeom>
          </p:spPr>
          <p:txBody>
            <a:bodyPr lIns="0" tIns="0" rIns="0" bIns="0" rtlCol="0" anchor="t">
              <a:spAutoFit/>
            </a:bodyPr>
            <a:lstStyle/>
            <a:p>
              <a:pPr marL="0" lvl="0" indent="0" algn="l">
                <a:lnSpc>
                  <a:spcPts val="8799"/>
                </a:lnSpc>
              </a:pPr>
              <a:r>
                <a:rPr lang="en-US" sz="8799">
                  <a:solidFill>
                    <a:srgbClr val="A8A8A8"/>
                  </a:solidFill>
                  <a:latin typeface="Gilda Display"/>
                  <a:ea typeface="Gilda Display"/>
                  <a:cs typeface="Gilda Display"/>
                  <a:sym typeface="Gilda Display"/>
                </a:rPr>
                <a:t>.NET 10 Updates</a:t>
              </a:r>
            </a:p>
          </p:txBody>
        </p:sp>
        <p:sp>
          <p:nvSpPr>
            <p:cNvPr id="4" name="TextBox 4"/>
            <p:cNvSpPr txBox="1"/>
            <p:nvPr/>
          </p:nvSpPr>
          <p:spPr>
            <a:xfrm>
              <a:off x="0" y="3260769"/>
              <a:ext cx="16852900" cy="3851426"/>
            </a:xfrm>
            <a:prstGeom prst="rect">
              <a:avLst/>
            </a:prstGeom>
          </p:spPr>
          <p:txBody>
            <a:bodyPr lIns="0" tIns="0" rIns="0" bIns="0" rtlCol="0" anchor="t">
              <a:spAutoFit/>
            </a:bodyPr>
            <a:lstStyle/>
            <a:p>
              <a:pPr marL="0" lvl="0" indent="0" algn="l">
                <a:lnSpc>
                  <a:spcPts val="2913"/>
                </a:lnSpc>
              </a:pPr>
              <a:r>
                <a:rPr lang="en-US" sz="2241">
                  <a:solidFill>
                    <a:srgbClr val="A8A8A8"/>
                  </a:solidFill>
                  <a:latin typeface="HK Grotesk"/>
                  <a:ea typeface="HK Grotesk"/>
                  <a:cs typeface="HK Grotesk"/>
                  <a:sym typeface="HK Grotesk"/>
                </a:rPr>
                <a:t>.NET 10 introduces improved shutdown coordination and more predictable cancellation behavior, ensuring safer teardown of background tasks, which enhances overall application reliability and performance.</a:t>
              </a:r>
            </a:p>
            <a:p>
              <a:pPr marL="0" lvl="0" indent="0" algn="l">
                <a:lnSpc>
                  <a:spcPts val="2913"/>
                </a:lnSpc>
              </a:pPr>
              <a:endParaRPr lang="en-US" sz="2241">
                <a:solidFill>
                  <a:srgbClr val="A8A8A8"/>
                </a:solidFill>
                <a:latin typeface="HK Grotesk"/>
                <a:ea typeface="HK Grotesk"/>
                <a:cs typeface="HK Grotesk"/>
                <a:sym typeface="HK Grotesk"/>
              </a:endParaRPr>
            </a:p>
            <a:p>
              <a:pPr marL="0" lvl="0" indent="0" algn="l">
                <a:lnSpc>
                  <a:spcPts val="2913"/>
                </a:lnSpc>
              </a:pPr>
              <a:r>
                <a:rPr lang="en-US" sz="2241">
                  <a:solidFill>
                    <a:srgbClr val="A8A8A8"/>
                  </a:solidFill>
                  <a:latin typeface="HK Grotesk"/>
                  <a:ea typeface="HK Grotesk"/>
                  <a:cs typeface="HK Grotesk"/>
                  <a:sym typeface="HK Grotesk"/>
                </a:rPr>
                <a:t>BackgroundService now runs the entirety of ExecuteAsync on a background thread. Previously, the synchronous portion of ExecuteAsync (before the first await) ran on the main thread during service startup, blocking other services from starting. Only code after the first await ran on a background thread.</a:t>
              </a:r>
            </a:p>
          </p:txBody>
        </p:sp>
        <p:sp>
          <p:nvSpPr>
            <p:cNvPr id="5" name="TextBox 5"/>
            <p:cNvSpPr txBox="1"/>
            <p:nvPr/>
          </p:nvSpPr>
          <p:spPr>
            <a:xfrm>
              <a:off x="0" y="2086063"/>
              <a:ext cx="16852900" cy="619125"/>
            </a:xfrm>
            <a:prstGeom prst="rect">
              <a:avLst/>
            </a:prstGeom>
          </p:spPr>
          <p:txBody>
            <a:bodyPr lIns="0" tIns="0" rIns="0" bIns="0" rtlCol="0" anchor="t">
              <a:spAutoFit/>
            </a:bodyPr>
            <a:lstStyle/>
            <a:p>
              <a:pPr marL="0" lvl="0" indent="0" algn="l">
                <a:lnSpc>
                  <a:spcPts val="3600"/>
                </a:lnSpc>
              </a:pPr>
              <a:r>
                <a:rPr lang="en-US" sz="3000" b="1">
                  <a:solidFill>
                    <a:srgbClr val="D0D0D0"/>
                  </a:solidFill>
                  <a:latin typeface="HK Grotesk Bold"/>
                  <a:ea typeface="HK Grotesk Bold"/>
                  <a:cs typeface="HK Grotesk Bold"/>
                  <a:sym typeface="HK Grotesk Bold"/>
                </a:rPr>
                <a:t>Enhancements in BackgroundService Management</a:t>
              </a:r>
            </a:p>
          </p:txBody>
        </p:sp>
      </p:grpSp>
      <p:sp>
        <p:nvSpPr>
          <p:cNvPr id="6" name="Freeform 6"/>
          <p:cNvSpPr/>
          <p:nvPr/>
        </p:nvSpPr>
        <p:spPr>
          <a:xfrm rot="-1268288">
            <a:off x="14795639" y="5873497"/>
            <a:ext cx="10936025" cy="10299747"/>
          </a:xfrm>
          <a:custGeom>
            <a:avLst/>
            <a:gdLst/>
            <a:ahLst/>
            <a:cxnLst/>
            <a:rect l="l" t="t" r="r" b="b"/>
            <a:pathLst>
              <a:path w="10936025" h="10299747">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1012</Words>
  <Application>Microsoft Office PowerPoint</Application>
  <PresentationFormat>Custom</PresentationFormat>
  <Paragraphs>104</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HK Grotesk Light</vt:lpstr>
      <vt:lpstr>HK Grotesk</vt:lpstr>
      <vt:lpstr>HK Grotesk Bold</vt:lpstr>
      <vt:lpstr>Gilda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.NET Core Essentials</dc:title>
  <dc:description>Presentation - .NET Core Essentials</dc:description>
  <cp:lastModifiedBy>Balagurunathan M</cp:lastModifiedBy>
  <cp:revision>1</cp:revision>
  <dcterms:created xsi:type="dcterms:W3CDTF">2006-08-16T00:00:00Z</dcterms:created>
  <dcterms:modified xsi:type="dcterms:W3CDTF">2025-12-13T02:23:02Z</dcterms:modified>
  <dc:identifier>DAG7WRHegec</dc:identifier>
</cp:coreProperties>
</file>